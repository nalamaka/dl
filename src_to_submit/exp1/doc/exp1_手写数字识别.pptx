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1" r:id="rId3"/>
    <p:sldId id="272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embeddedFontLst>
    <p:embeddedFont>
      <p:font typeface="微软雅黑" panose="020B0503020204020204" pitchFamily="34" charset="-122"/>
      <p:regular r:id="rId13"/>
      <p:bold r:id="rId14"/>
    </p:embeddedFont>
    <p:embeddedFont>
      <p:font typeface="Garamond" panose="02020404030301010803" pitchFamily="18" charset="0"/>
      <p:regular r:id="rId15"/>
      <p:bold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FFB7B7"/>
    <a:srgbClr val="FFFF00"/>
    <a:srgbClr val="0000FF"/>
    <a:srgbClr val="FFC000"/>
    <a:srgbClr val="006600"/>
    <a:srgbClr val="99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8947" autoAdjust="0"/>
  </p:normalViewPr>
  <p:slideViewPr>
    <p:cSldViewPr>
      <p:cViewPr varScale="1">
        <p:scale>
          <a:sx n="120" d="100"/>
          <a:sy n="120" d="100"/>
        </p:scale>
        <p:origin x="100" y="5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852"/>
    </p:cViewPr>
  </p:sorter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AEE3-75C2-4741-8E3F-8E88B1DBFCF5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9583-C74F-4281-ABBE-A78FE3807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64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B0C6D-96B8-4A68-85CC-826FFA5A14B1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A69-8240-42E5-9E76-DBC0E843E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5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5BE-E445-E36B-5806-45145880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52476-4EB8-7FFF-18C8-13A106C2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83C81-974C-84EE-A055-1B89F3A1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A2D8E-CEA2-BC21-5D40-7C000F05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BAE1-A385-AAAB-2D5D-23A11648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B191B-835A-1B31-8EF1-C9BD4059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9207C-3CC3-EC1D-26C2-E5EEEC3D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63BB6-42BA-FB6A-44EE-96DFD7B7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2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3546-6C98-DF54-F746-8904B6B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B3A23-9126-609E-D4FD-62338940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F1660-A78C-4227-F46D-3AA38999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44AEC-6A1A-69E7-7870-26320C87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C28E-F32B-48BC-B981-891B9CB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6E4C0-AB80-1ADB-723F-7EB897C5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E2E21-F87A-9F49-8790-8D0EE623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F6E44-A0AE-1ABB-BA8B-7E853EBC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AACF-109B-45B3-E936-E33C7502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79C6-425A-1EE6-2508-B6AA44E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593BE-2F3A-4375-4A42-D790DF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87C80-FC2B-3578-B4F7-260E19C4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71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2BC0-1228-C6BC-E87D-7523D333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711C29-146E-DDDE-0EDD-12E2DF718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ED854-9070-BDAF-A903-6428D96E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9BC15-386F-A7E4-0E02-9DB0AA02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50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44CD9-58C3-9490-8486-5F55A3C1A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6ED49-50A7-EA70-9639-F3C64A54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0684C1-D7DC-6A85-F91F-117F3EE14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E4F6C4-CE4C-DD0F-45BF-F456515A0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774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97A-B585-A1B1-FD98-F83BCCFB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3D5C5-0F2E-363D-C846-D736A069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5C981C-D85E-3F49-58F0-421C751F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2D695-24A5-A616-CA62-C3A932BA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149D229-E0B6-4D10-B6D2-AD9DF36808C0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53"/>
            <a:ext cx="10972800" cy="4983832"/>
          </a:xfrm>
        </p:spPr>
        <p:txBody>
          <a:bodyPr/>
          <a:lstStyle>
            <a:lvl1pPr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>
                <a:solidFill>
                  <a:schemeClr val="tx1"/>
                </a:solidFill>
              </a:defRPr>
            </a:lvl1pPr>
            <a:lvl2pPr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05273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609600" y="637705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112CF7D-B3D5-F8F0-7085-ACE37DB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EB29733-71F3-AAD2-22FA-07064DF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6FB5C33-B085-6785-B949-025F75F0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0" y="250002"/>
            <a:ext cx="10972800" cy="62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8C2D-4FB0-45BE-959B-AD58DD71321E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D5C-D52B-4168-B538-2EC2871FAB61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328C-7A93-4B0E-950E-4DACD4714DF1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2F25-5EC5-4308-8DF6-B784EBDD7317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C9F2-3258-4E72-B11A-FA439159AE68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9049-F39B-4F82-B790-DB409EA671F9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F3D-3C0E-431B-90BB-5683456AACDA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9009-EEDC-438C-A7CD-B9721AD2EDED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6E27-C346-4EFB-9DFC-A20EF264AE09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None/>
        <a:defRPr sz="30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2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CD44C-353A-EC56-F4A0-A0C5483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en-US" altLang="zh-CN" dirty="0"/>
              <a:t>1 </a:t>
            </a:r>
            <a:r>
              <a:rPr lang="zh-CN" altLang="en-US" dirty="0"/>
              <a:t>手写数字识别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9EFFF41-CACA-C2AA-C4E9-FF0F6C61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汇报人：徐畅杰</a:t>
            </a:r>
            <a:endParaRPr lang="en-US" altLang="zh-CN" dirty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9C23-A19B-E69E-8EB1-E15D9B6F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351BB1-1ABF-3DAD-5DFA-190216C2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本实验需要构造一个卷积神经网络（</a:t>
            </a:r>
            <a:r>
              <a:rPr lang="en-US" altLang="zh-CN" dirty="0"/>
              <a:t>CNN</a:t>
            </a:r>
            <a:r>
              <a:rPr lang="zh-CN" altLang="en-US" dirty="0"/>
              <a:t>），并使用其进行手写数字识别实验，完成对数字</a:t>
            </a:r>
            <a:r>
              <a:rPr lang="en-US" altLang="zh-CN" dirty="0"/>
              <a:t>0-9</a:t>
            </a:r>
            <a:r>
              <a:rPr lang="zh-CN" altLang="en-US" dirty="0"/>
              <a:t>的分类。</a:t>
            </a:r>
            <a:endParaRPr lang="en-US" altLang="zh-CN" dirty="0"/>
          </a:p>
          <a:p>
            <a:r>
              <a:rPr lang="zh-CN" altLang="en-US" dirty="0"/>
              <a:t>目的：</a:t>
            </a:r>
            <a:endParaRPr lang="en-US" altLang="zh-CN" dirty="0"/>
          </a:p>
          <a:p>
            <a:pPr lvl="1"/>
            <a:r>
              <a:rPr lang="zh-CN" altLang="en-US" b="0" dirty="0"/>
              <a:t>掌握卷积神经网络基本原理和结构</a:t>
            </a:r>
          </a:p>
          <a:p>
            <a:pPr lvl="1"/>
            <a:r>
              <a:rPr lang="zh-CN" altLang="en-US" b="0" dirty="0"/>
              <a:t>通过实验加深对卷积神经网络的理解和应用</a:t>
            </a:r>
          </a:p>
          <a:p>
            <a:pPr lvl="1"/>
            <a:r>
              <a:rPr lang="zh-CN" altLang="en-US" b="0" dirty="0"/>
              <a:t>熟悉使用深度学习框架（如</a:t>
            </a:r>
            <a:r>
              <a:rPr lang="en-US" altLang="zh-CN" b="0" dirty="0"/>
              <a:t>TensorFlow</a:t>
            </a:r>
            <a:r>
              <a:rPr lang="zh-CN" altLang="en-US" b="0" dirty="0"/>
              <a:t>或</a:t>
            </a:r>
            <a:r>
              <a:rPr lang="en-US" altLang="zh-CN" b="0" dirty="0" err="1"/>
              <a:t>PyTorch</a:t>
            </a:r>
            <a:r>
              <a:rPr lang="zh-CN" altLang="en-US" b="0" dirty="0"/>
              <a:t>）进行模型构建和训练的流程</a:t>
            </a:r>
          </a:p>
          <a:p>
            <a:pPr lvl="1"/>
            <a:r>
              <a:rPr lang="zh-CN" altLang="en-US" b="0" dirty="0"/>
              <a:t>通过实验掌握数据预处理、模型训练、评估和调优的基本技能</a:t>
            </a:r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77A54-2F39-86D9-E4E4-6A315DDE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6438A-652A-010E-D5A0-7096E41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FCD223-E633-C7CC-8EEB-E68C31A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421819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BC46-9831-A311-ADDC-A1C4FA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98EC30-A05A-2F9E-AED7-240ED13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6854552" cy="4983832"/>
          </a:xfrm>
        </p:spPr>
        <p:txBody>
          <a:bodyPr/>
          <a:lstStyle/>
          <a:p>
            <a:r>
              <a:rPr lang="en-US" altLang="zh-CN" dirty="0"/>
              <a:t>MNIST</a:t>
            </a:r>
            <a:r>
              <a:rPr lang="zh-CN" altLang="en-US" dirty="0"/>
              <a:t>数据集：</a:t>
            </a:r>
            <a:r>
              <a:rPr lang="en-US" altLang="zh-CN" b="0" dirty="0"/>
              <a:t>MNIST</a:t>
            </a:r>
            <a:r>
              <a:rPr lang="zh-CN" altLang="en-US" b="0" dirty="0"/>
              <a:t>数据集是一个经典的手写数字识别数据集</a:t>
            </a:r>
          </a:p>
          <a:p>
            <a:r>
              <a:rPr lang="zh-CN" altLang="en-US" dirty="0"/>
              <a:t>数据规模：</a:t>
            </a:r>
            <a:endParaRPr lang="en-US" altLang="zh-CN" dirty="0"/>
          </a:p>
          <a:p>
            <a:pPr lvl="1"/>
            <a:r>
              <a:rPr lang="zh-CN" altLang="en-US" b="0" dirty="0"/>
              <a:t>训练集：</a:t>
            </a:r>
            <a:r>
              <a:rPr lang="en-US" altLang="zh-CN" b="0" dirty="0"/>
              <a:t>60,000</a:t>
            </a:r>
            <a:r>
              <a:rPr lang="zh-CN" altLang="en-US" b="0" dirty="0"/>
              <a:t>张</a:t>
            </a:r>
            <a:r>
              <a:rPr lang="en-US" altLang="zh-CN" b="0" dirty="0"/>
              <a:t>28x28</a:t>
            </a:r>
            <a:r>
              <a:rPr lang="zh-CN" altLang="en-US" b="0" dirty="0"/>
              <a:t>像素的灰度图像</a:t>
            </a:r>
          </a:p>
          <a:p>
            <a:pPr lvl="1"/>
            <a:r>
              <a:rPr lang="zh-CN" altLang="en-US" b="0" dirty="0"/>
              <a:t> 测试集：</a:t>
            </a:r>
            <a:r>
              <a:rPr lang="en-US" altLang="zh-CN" b="0" dirty="0"/>
              <a:t>10,000</a:t>
            </a:r>
            <a:r>
              <a:rPr lang="zh-CN" altLang="en-US" b="0" dirty="0"/>
              <a:t>张</a:t>
            </a:r>
            <a:r>
              <a:rPr lang="en-US" altLang="zh-CN" b="0" dirty="0"/>
              <a:t>28x28</a:t>
            </a:r>
            <a:r>
              <a:rPr lang="zh-CN" altLang="en-US" b="0" dirty="0"/>
              <a:t>像素的灰度图像</a:t>
            </a:r>
          </a:p>
          <a:p>
            <a:pPr lvl="1"/>
            <a:r>
              <a:rPr lang="zh-CN" altLang="en-US" b="0" dirty="0"/>
              <a:t> 图像尺寸：</a:t>
            </a:r>
            <a:r>
              <a:rPr lang="en-US" altLang="zh-CN" b="0" dirty="0"/>
              <a:t>28x28</a:t>
            </a:r>
            <a:r>
              <a:rPr lang="zh-CN" altLang="en-US" b="0" dirty="0"/>
              <a:t>像素</a:t>
            </a:r>
          </a:p>
          <a:p>
            <a:pPr lvl="1"/>
            <a:r>
              <a:rPr lang="zh-CN" altLang="en-US" b="0" dirty="0"/>
              <a:t> 类别数量：</a:t>
            </a:r>
            <a:r>
              <a:rPr lang="en-US" altLang="zh-CN" b="0" dirty="0"/>
              <a:t>10</a:t>
            </a:r>
            <a:r>
              <a:rPr lang="zh-CN" altLang="en-US" b="0" dirty="0"/>
              <a:t>类（数字</a:t>
            </a:r>
            <a:r>
              <a:rPr lang="en-US" altLang="zh-CN" b="0" dirty="0"/>
              <a:t>0-9</a:t>
            </a:r>
            <a:r>
              <a:rPr lang="zh-CN" altLang="en-US" b="0" dirty="0"/>
              <a:t>）</a:t>
            </a:r>
          </a:p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0DE22-D666-6C41-7B80-0025A5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A3A0-EA19-83DF-8660-BDFEB98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【sklearn】对MNIST数据集进行PCA降维与重构，可视化对比_学习mnist读取数据的程序,结合pca的方法将mnist的数据集进行降 ...">
            <a:extLst>
              <a:ext uri="{FF2B5EF4-FFF2-40B4-BE49-F238E27FC236}">
                <a16:creationId xmlns:a16="http://schemas.microsoft.com/office/drawing/2014/main" id="{2D5FE9E7-F7B3-929F-B926-2C8D3D807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616184"/>
            <a:ext cx="4631237" cy="458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4">
            <a:extLst>
              <a:ext uri="{FF2B5EF4-FFF2-40B4-BE49-F238E27FC236}">
                <a16:creationId xmlns:a16="http://schemas.microsoft.com/office/drawing/2014/main" id="{E7589DD4-41E5-321D-59D0-9045DAF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49238"/>
            <a:ext cx="10972800" cy="628650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</p:spTree>
    <p:extLst>
      <p:ext uri="{BB962C8B-B14F-4D97-AF65-F5344CB8AC3E}">
        <p14:creationId xmlns:p14="http://schemas.microsoft.com/office/powerpoint/2010/main" val="40467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0BD-99F3-B632-6234-75CAF7B4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CB41FE-B42F-E292-835E-8505DF2B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6134472" cy="4983832"/>
          </a:xfrm>
        </p:spPr>
        <p:txBody>
          <a:bodyPr>
            <a:normAutofit/>
          </a:bodyPr>
          <a:lstStyle/>
          <a:p>
            <a:r>
              <a:rPr lang="zh-CN" altLang="en-US" dirty="0"/>
              <a:t>本实验设计的网络结构如右图：</a:t>
            </a:r>
            <a:endParaRPr lang="en-US" altLang="zh-CN" dirty="0"/>
          </a:p>
          <a:p>
            <a:r>
              <a:rPr lang="zh-CN" altLang="en-US" b="0" dirty="0"/>
              <a:t>本项目构建了一个双卷积层的 </a:t>
            </a:r>
            <a:r>
              <a:rPr lang="en-US" altLang="zh-CN" b="0" dirty="0"/>
              <a:t>CNN</a:t>
            </a:r>
            <a:r>
              <a:rPr lang="zh-CN" altLang="en-US" b="0" dirty="0"/>
              <a:t>，参数规模约为 </a:t>
            </a:r>
            <a:r>
              <a:rPr lang="en-US" altLang="zh-CN" b="0" dirty="0"/>
              <a:t>8.5 </a:t>
            </a:r>
            <a:r>
              <a:rPr lang="zh-CN" altLang="en-US" b="0" dirty="0"/>
              <a:t>万。</a:t>
            </a:r>
            <a:endParaRPr lang="en-US" altLang="zh-CN" b="0" dirty="0"/>
          </a:p>
          <a:p>
            <a:r>
              <a:rPr lang="zh-CN" altLang="en-US" b="0" dirty="0"/>
              <a:t>网络先在第一卷积模块中采用 </a:t>
            </a:r>
            <a:r>
              <a:rPr lang="en-US" altLang="zh-CN" b="0" dirty="0"/>
              <a:t>5×5 </a:t>
            </a:r>
            <a:r>
              <a:rPr lang="zh-CN" altLang="en-US" b="0" dirty="0"/>
              <a:t>卷积核，将输入的单通道图像映射为 </a:t>
            </a:r>
            <a:r>
              <a:rPr lang="en-US" altLang="zh-CN" b="0" dirty="0"/>
              <a:t>16 </a:t>
            </a:r>
            <a:r>
              <a:rPr lang="zh-CN" altLang="en-US" b="0" dirty="0"/>
              <a:t>通道特征；随后第二卷积模块继续提取更高层表示，并扩展到 </a:t>
            </a:r>
            <a:r>
              <a:rPr lang="en-US" altLang="zh-CN" b="0" dirty="0"/>
              <a:t>32 </a:t>
            </a:r>
            <a:r>
              <a:rPr lang="zh-CN" altLang="en-US" b="0" dirty="0"/>
              <a:t>通道。</a:t>
            </a:r>
            <a:endParaRPr lang="en-US" altLang="zh-CN" b="0" dirty="0"/>
          </a:p>
          <a:p>
            <a:r>
              <a:rPr lang="zh-CN" altLang="en-US" b="0" dirty="0"/>
              <a:t>通过两次 </a:t>
            </a:r>
            <a:r>
              <a:rPr lang="en-US" altLang="zh-CN" b="0" dirty="0"/>
              <a:t>2×2 </a:t>
            </a:r>
            <a:r>
              <a:rPr lang="zh-CN" altLang="en-US" b="0" dirty="0"/>
              <a:t>最大池化，特征图分辨率逐步降低，最后接入全连接层，输出 </a:t>
            </a:r>
            <a:r>
              <a:rPr lang="en-US" altLang="zh-CN" b="0" dirty="0"/>
              <a:t>10 </a:t>
            </a:r>
            <a:r>
              <a:rPr lang="zh-CN" altLang="en-US" b="0" dirty="0"/>
              <a:t>个类别的分类概率。</a:t>
            </a:r>
            <a:endParaRPr lang="en-US" altLang="zh-CN" b="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8F309E-77A2-3D30-97BA-70391DF6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1220E-FD74-8254-83A9-6B4EAFE9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D65FB6-B656-50CE-20DE-25E7207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4B313E-F30C-2E93-3F3A-2F0B9D29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282" y="1632724"/>
            <a:ext cx="4752528" cy="39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E7C7-7FBB-3590-B07A-417F3A4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EBF49-1414-E354-A883-3FB3B7A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93" y="1071786"/>
            <a:ext cx="2844800" cy="477721"/>
          </a:xfrm>
        </p:spPr>
        <p:txBody>
          <a:bodyPr/>
          <a:lstStyle/>
          <a:p>
            <a:r>
              <a:rPr lang="zh-CN" altLang="en-US" dirty="0"/>
              <a:t>模型定义：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BC3B4-893A-ABC5-2CD1-40C88282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6C1AD-1183-C123-EC5F-166AF42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FC8A075-BB87-A1A4-F447-4EAD8A7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C7B476B-6E30-F1D9-29F9-5E64C48B1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549507"/>
            <a:ext cx="2742321" cy="4694815"/>
          </a:xfrm>
          <a:prstGeom prst="rect">
            <a:avLst/>
          </a:prstGeom>
        </p:spPr>
      </p:pic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D9A20C2E-EAAD-6447-EA90-8FC7DA05F9C6}"/>
              </a:ext>
            </a:extLst>
          </p:cNvPr>
          <p:cNvSpPr txBox="1">
            <a:spLocks/>
          </p:cNvSpPr>
          <p:nvPr/>
        </p:nvSpPr>
        <p:spPr>
          <a:xfrm>
            <a:off x="4673600" y="1357717"/>
            <a:ext cx="2844800" cy="47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损失函数定义：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46363E-27D1-DD98-2DBD-C91C0AD53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0" y="1835438"/>
            <a:ext cx="5943905" cy="1466925"/>
          </a:xfrm>
          <a:prstGeom prst="rect">
            <a:avLst/>
          </a:prstGeom>
        </p:spPr>
      </p:pic>
      <p:sp>
        <p:nvSpPr>
          <p:cNvPr id="13" name="内容占位符 1">
            <a:extLst>
              <a:ext uri="{FF2B5EF4-FFF2-40B4-BE49-F238E27FC236}">
                <a16:creationId xmlns:a16="http://schemas.microsoft.com/office/drawing/2014/main" id="{2A4F8862-BAB5-25AD-1B6D-2A6B239FC1AF}"/>
              </a:ext>
            </a:extLst>
          </p:cNvPr>
          <p:cNvSpPr txBox="1">
            <a:spLocks/>
          </p:cNvSpPr>
          <p:nvPr/>
        </p:nvSpPr>
        <p:spPr>
          <a:xfrm>
            <a:off x="4673600" y="3302363"/>
            <a:ext cx="2844800" cy="47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优化器构建：</a:t>
            </a:r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3DB4B3B-DAB1-34DF-AD07-8FB2EE61E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0" y="3715809"/>
            <a:ext cx="6388428" cy="1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6F-FDB0-EF5B-23D4-79C191F2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CA8C19-1236-3CC7-9AC3-3009EEF8A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93" y="1071786"/>
            <a:ext cx="2844800" cy="477721"/>
          </a:xfrm>
        </p:spPr>
        <p:txBody>
          <a:bodyPr/>
          <a:lstStyle/>
          <a:p>
            <a:r>
              <a:rPr lang="zh-CN" altLang="en-US" dirty="0"/>
              <a:t>训练策略：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7D4EA6-665D-9EE1-2B49-96EEB6E0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CBCAB-7F9A-D227-AA67-C8DACD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F228F0-A1F9-B048-BB32-8B71E48F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7827C7-E7AA-559C-A9B8-F141FDF75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32" y="1549507"/>
            <a:ext cx="4644921" cy="4622416"/>
          </a:xfrm>
          <a:prstGeom prst="rect">
            <a:avLst/>
          </a:prstGeom>
        </p:spPr>
      </p:pic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A0332A8-101F-B926-5874-B7C49E7BE946}"/>
              </a:ext>
            </a:extLst>
          </p:cNvPr>
          <p:cNvSpPr txBox="1">
            <a:spLocks/>
          </p:cNvSpPr>
          <p:nvPr/>
        </p:nvSpPr>
        <p:spPr>
          <a:xfrm>
            <a:off x="6096000" y="1316551"/>
            <a:ext cx="5112568" cy="1752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训练设置：</a:t>
            </a:r>
            <a:endParaRPr lang="en-US" altLang="zh-CN" dirty="0"/>
          </a:p>
          <a:p>
            <a:pPr lvl="1"/>
            <a:r>
              <a:rPr lang="zh-CN" altLang="en-US" dirty="0"/>
              <a:t>学习率（</a:t>
            </a:r>
            <a:r>
              <a:rPr lang="en-US" altLang="zh-CN" dirty="0"/>
              <a:t>Learning Rate</a:t>
            </a:r>
            <a:r>
              <a:rPr lang="zh-CN" altLang="en-US" dirty="0"/>
              <a:t>）：</a:t>
            </a:r>
            <a:r>
              <a:rPr lang="en-US" altLang="zh-CN" dirty="0"/>
              <a:t>0.001</a:t>
            </a:r>
          </a:p>
          <a:p>
            <a:pPr lvl="1"/>
            <a:r>
              <a:rPr lang="zh-CN" altLang="en-US" dirty="0"/>
              <a:t>批大小（</a:t>
            </a:r>
            <a:r>
              <a:rPr lang="en-US" altLang="zh-CN" dirty="0"/>
              <a:t>Batch Size</a:t>
            </a:r>
            <a:r>
              <a:rPr lang="zh-CN" altLang="en-US" dirty="0"/>
              <a:t>）：</a:t>
            </a:r>
            <a:r>
              <a:rPr lang="en-US" altLang="zh-CN" dirty="0"/>
              <a:t>64</a:t>
            </a:r>
          </a:p>
          <a:p>
            <a:pPr lvl="1"/>
            <a:r>
              <a:rPr lang="zh-CN" altLang="en-US" dirty="0"/>
              <a:t>训练轮数（</a:t>
            </a:r>
            <a:r>
              <a:rPr lang="en-US" altLang="zh-CN" dirty="0"/>
              <a:t>Epochs</a:t>
            </a:r>
            <a:r>
              <a:rPr lang="zh-CN" altLang="en-US" dirty="0"/>
              <a:t>）：</a:t>
            </a:r>
            <a:r>
              <a:rPr lang="en-US" altLang="zh-CN" dirty="0"/>
              <a:t>10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269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C7B-7FE6-109D-E0A9-D2E51B71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66F01C-E737-2C47-2D27-35976236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如图所示，模型能够精准的识别出测试集中的手写数字，具有较好的泛化能力。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EB044-B353-18F6-04D7-B1DCA1DC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DDB0F-DB6D-44B9-DA6E-F18790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6CFB75F-7E10-0950-BC69-D65C92DB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2CD734-5BEC-61CD-A83A-BE60BF657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2060848"/>
            <a:ext cx="3645024" cy="36450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AC02020-1F40-5BCF-6F66-8F71C21A24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4285771"/>
            <a:ext cx="5760640" cy="19202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14A0360-6C0A-8D0A-8C8F-496E1BD56FB9}"/>
              </a:ext>
            </a:extLst>
          </p:cNvPr>
          <p:cNvSpPr txBox="1"/>
          <p:nvPr/>
        </p:nvSpPr>
        <p:spPr>
          <a:xfrm>
            <a:off x="609600" y="2572229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800"/>
              </a:spcBef>
              <a:buFont typeface="Wingdings" pitchFamily="2" charset="2"/>
              <a:buChar char="q"/>
            </a:pPr>
            <a:r>
              <a:rPr lang="zh-CN" altLang="en-US" sz="2400" b="1" dirty="0">
                <a:latin typeface="Garamond" pitchFamily="18" charset="0"/>
              </a:rPr>
              <a:t>在默认配置（</a:t>
            </a:r>
            <a:r>
              <a:rPr lang="en-US" altLang="zh-CN" sz="2400" b="1" dirty="0" err="1">
                <a:latin typeface="Garamond" pitchFamily="18" charset="0"/>
              </a:rPr>
              <a:t>adam</a:t>
            </a:r>
            <a:r>
              <a:rPr lang="zh-CN" altLang="en-US" sz="2400" b="1" dirty="0">
                <a:latin typeface="Garamond" pitchFamily="18" charset="0"/>
              </a:rPr>
              <a:t>优化器，</a:t>
            </a:r>
            <a:r>
              <a:rPr lang="en-US" altLang="zh-CN" sz="2400" b="1" dirty="0" err="1">
                <a:latin typeface="Garamond" pitchFamily="18" charset="0"/>
              </a:rPr>
              <a:t>ce</a:t>
            </a:r>
            <a:r>
              <a:rPr lang="zh-CN" altLang="en-US" sz="2400" b="1" dirty="0">
                <a:latin typeface="Garamond" pitchFamily="18" charset="0"/>
              </a:rPr>
              <a:t>损失函数，学习率</a:t>
            </a:r>
            <a:r>
              <a:rPr lang="en-US" altLang="zh-CN" sz="2400" b="1" dirty="0">
                <a:latin typeface="Garamond" pitchFamily="18" charset="0"/>
              </a:rPr>
              <a:t>0.001</a:t>
            </a:r>
            <a:r>
              <a:rPr lang="zh-CN" altLang="en-US" sz="2400" b="1" dirty="0">
                <a:latin typeface="Garamond" pitchFamily="18" charset="0"/>
              </a:rPr>
              <a:t>，训练</a:t>
            </a:r>
            <a:r>
              <a:rPr lang="en-US" altLang="zh-CN" sz="2400" b="1" dirty="0">
                <a:latin typeface="Garamond" pitchFamily="18" charset="0"/>
              </a:rPr>
              <a:t>10</a:t>
            </a:r>
            <a:r>
              <a:rPr lang="zh-CN" altLang="en-US" sz="2400" b="1" dirty="0">
                <a:latin typeface="Garamond" pitchFamily="18" charset="0"/>
              </a:rPr>
              <a:t>轮）下，模型在测试集上的准确率达到了</a:t>
            </a:r>
            <a:r>
              <a:rPr lang="en-US" altLang="zh-CN" sz="2400" b="1" dirty="0">
                <a:latin typeface="Garamond" pitchFamily="18" charset="0"/>
              </a:rPr>
              <a:t>99.3%</a:t>
            </a:r>
            <a:r>
              <a:rPr lang="zh-CN" altLang="en-US" sz="2400" b="1" dirty="0">
                <a:latin typeface="Garamond" pitchFamily="18" charset="0"/>
              </a:rPr>
              <a:t>，表现良好。</a:t>
            </a:r>
          </a:p>
        </p:txBody>
      </p:sp>
    </p:spTree>
    <p:extLst>
      <p:ext uri="{BB962C8B-B14F-4D97-AF65-F5344CB8AC3E}">
        <p14:creationId xmlns:p14="http://schemas.microsoft.com/office/powerpoint/2010/main" val="336449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33AE-3879-CECA-419B-5685E17F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8DAD34-AC8D-4A80-B211-46108D30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zh-CN" altLang="en-US" dirty="0"/>
              <a:t>在不同的模型配置下，模型的性能表现如下：</a:t>
            </a:r>
            <a:endParaRPr lang="en-US" altLang="zh-CN" dirty="0"/>
          </a:p>
          <a:p>
            <a:r>
              <a:rPr lang="zh-CN" altLang="en-US" dirty="0"/>
              <a:t>可⻅ </a:t>
            </a:r>
            <a:r>
              <a:rPr lang="en-US" altLang="zh-CN" dirty="0" err="1"/>
              <a:t>adam</a:t>
            </a:r>
            <a:r>
              <a:rPr lang="en-US" altLang="zh-CN" dirty="0"/>
              <a:t> </a:t>
            </a:r>
            <a:r>
              <a:rPr lang="zh-CN" altLang="en-US" dirty="0"/>
              <a:t>优化器收敛速度与最终正确率均优于 </a:t>
            </a:r>
            <a:r>
              <a:rPr lang="en-US" altLang="zh-CN" dirty="0" err="1"/>
              <a:t>sgd</a:t>
            </a:r>
            <a:r>
              <a:rPr lang="en-US" altLang="zh-CN" dirty="0"/>
              <a:t> </a:t>
            </a:r>
            <a:r>
              <a:rPr lang="zh-CN" altLang="en-US" dirty="0"/>
              <a:t>，⽽损失函数对于结果的影响不⼤。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341B3D-177F-2342-E5A9-B8573B21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26348-FEC8-2588-4D66-715E0BE2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E853CE-53B5-9DAC-A5EF-75353FBF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58C940-D740-46AA-308D-BB9C046E5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648931"/>
            <a:ext cx="9030056" cy="354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1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C092-EF16-8804-9837-A2A12D1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1403B2-2EA0-F0BF-62F9-38F3C43F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/>
          <a:lstStyle/>
          <a:p>
            <a:r>
              <a:rPr lang="en-US" altLang="zh-CN" dirty="0"/>
              <a:t>- </a:t>
            </a:r>
            <a:r>
              <a:rPr lang="zh-CN" altLang="en-US" dirty="0"/>
              <a:t>本实验基于 </a:t>
            </a:r>
            <a:r>
              <a:rPr lang="en-US" altLang="zh-CN" dirty="0"/>
              <a:t>MNIST </a:t>
            </a:r>
            <a:r>
              <a:rPr lang="zh-CN" altLang="en-US" dirty="0"/>
              <a:t>数据集完成了手写数字识别任务，使用两层卷积块加全连接层的 </a:t>
            </a:r>
            <a:r>
              <a:rPr lang="en-US" altLang="zh-CN" dirty="0"/>
              <a:t>CNN </a:t>
            </a:r>
            <a:r>
              <a:rPr lang="zh-CN" altLang="en-US" dirty="0"/>
              <a:t>结构，实现了从数据预处理、模型训练到结果可视化的完整流程。实验结果表明，该模型能够较准确地识别测试集中的数字，在默认配置（</a:t>
            </a:r>
            <a:r>
              <a:rPr lang="en-US" altLang="zh-CN" dirty="0"/>
              <a:t>Adam + CE</a:t>
            </a:r>
            <a:r>
              <a:rPr lang="zh-CN" altLang="en-US" dirty="0"/>
              <a:t>，学习率 </a:t>
            </a:r>
            <a:r>
              <a:rPr lang="en-US" altLang="zh-CN" dirty="0"/>
              <a:t>0.001</a:t>
            </a:r>
            <a:r>
              <a:rPr lang="zh-CN" altLang="en-US" dirty="0"/>
              <a:t>，训练 </a:t>
            </a:r>
            <a:r>
              <a:rPr lang="en-US" altLang="zh-CN" dirty="0"/>
              <a:t>10 </a:t>
            </a:r>
            <a:r>
              <a:rPr lang="zh-CN" altLang="en-US" dirty="0"/>
              <a:t>轮）下测试准确率达到 </a:t>
            </a:r>
            <a:r>
              <a:rPr lang="en-US" altLang="zh-CN" dirty="0"/>
              <a:t>99.3%</a:t>
            </a:r>
            <a:r>
              <a:rPr lang="zh-CN" altLang="en-US" dirty="0"/>
              <a:t>，说明所构建的网络具备较好的特征提取能力与泛化</a:t>
            </a:r>
            <a:r>
              <a:rPr lang="zh-CN" altLang="en-US"/>
              <a:t>性能。</a:t>
            </a:r>
            <a:endParaRPr lang="zh-CN" altLang="en-US" dirty="0"/>
          </a:p>
          <a:p>
            <a:r>
              <a:rPr lang="zh-CN" altLang="en-US" dirty="0"/>
              <a:t>对比不同优化器与损失配置后可见，</a:t>
            </a:r>
            <a:r>
              <a:rPr lang="en-US" altLang="zh-CN" dirty="0"/>
              <a:t>Adam</a:t>
            </a:r>
            <a:r>
              <a:rPr lang="zh-CN" altLang="en-US" dirty="0"/>
              <a:t>的收敛速度和最终效果整体优于</a:t>
            </a:r>
            <a:r>
              <a:rPr lang="en-US" altLang="zh-CN" dirty="0"/>
              <a:t>SGD</a:t>
            </a:r>
            <a:r>
              <a:rPr lang="zh-CN" altLang="en-US" dirty="0"/>
              <a:t>；在本实验设置下，损失函数的选择对最终性能影响相对有限。总体而言，</a:t>
            </a:r>
            <a:r>
              <a:rPr lang="en-US" altLang="zh-CN" dirty="0"/>
              <a:t>CNN </a:t>
            </a:r>
            <a:r>
              <a:rPr lang="zh-CN" altLang="en-US" dirty="0"/>
              <a:t>在 </a:t>
            </a:r>
            <a:r>
              <a:rPr lang="en-US" altLang="zh-CN" dirty="0"/>
              <a:t>MNIST </a:t>
            </a:r>
            <a:r>
              <a:rPr lang="zh-CN" altLang="en-US" dirty="0"/>
              <a:t>这类标准视觉分类任务上表现稳定、实现成本低，适合作为图像分类入门模型。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3EF9C9-C80C-7262-D4A7-0D89F75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2026/4/20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35F47-2113-BE54-38AB-09E18C54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847405-93FC-A0EB-9294-4F7D6ACA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798784099"/>
      </p:ext>
    </p:extLst>
  </p:cSld>
  <p:clrMapOvr>
    <a:masterClrMapping/>
  </p:clrMapOvr>
</p:sld>
</file>

<file path=ppt/theme/theme1.xml><?xml version="1.0" encoding="utf-8"?>
<a:theme xmlns:a="http://schemas.openxmlformats.org/drawingml/2006/main" name="C01-计算机系统概论4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P07-实验课课程总结</Template>
  <TotalTime>4286</TotalTime>
  <Words>580</Words>
  <Application>Microsoft Office PowerPoint</Application>
  <PresentationFormat>宽屏</PresentationFormat>
  <Paragraphs>64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Wingdings</vt:lpstr>
      <vt:lpstr>Calibri</vt:lpstr>
      <vt:lpstr>Garamond</vt:lpstr>
      <vt:lpstr>Arial</vt:lpstr>
      <vt:lpstr>微软雅黑</vt:lpstr>
      <vt:lpstr>Courier New</vt:lpstr>
      <vt:lpstr>C01-计算机系统概论4p</vt:lpstr>
      <vt:lpstr>实验1 手写数字识别</vt:lpstr>
      <vt:lpstr>01 实验要求</vt:lpstr>
      <vt:lpstr>02 实验环境</vt:lpstr>
      <vt:lpstr>03 实验原理</vt:lpstr>
      <vt:lpstr>04 核心代码</vt:lpstr>
      <vt:lpstr>04 核心代码</vt:lpstr>
      <vt:lpstr>05 实验结果</vt:lpstr>
      <vt:lpstr>05 实验结果</vt:lpstr>
      <vt:lpstr>06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组成原理课程期末调查问卷</dc:title>
  <dc:creator>GZ JK</dc:creator>
  <cp:lastModifiedBy>alare a</cp:lastModifiedBy>
  <cp:revision>912</cp:revision>
  <dcterms:created xsi:type="dcterms:W3CDTF">2020-07-02T18:17:07Z</dcterms:created>
  <dcterms:modified xsi:type="dcterms:W3CDTF">2026-04-20T15:32:40Z</dcterms:modified>
</cp:coreProperties>
</file>