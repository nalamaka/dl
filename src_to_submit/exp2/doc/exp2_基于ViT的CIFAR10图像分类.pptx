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1" r:id="rId3"/>
    <p:sldId id="272" r:id="rId4"/>
    <p:sldId id="274" r:id="rId5"/>
    <p:sldId id="275" r:id="rId6"/>
    <p:sldId id="276" r:id="rId7"/>
    <p:sldId id="280" r:id="rId8"/>
    <p:sldId id="277" r:id="rId9"/>
    <p:sldId id="278" r:id="rId10"/>
    <p:sldId id="281" r:id="rId11"/>
    <p:sldId id="279" r:id="rId12"/>
  </p:sldIdLst>
  <p:sldSz cx="12192000" cy="6858000"/>
  <p:notesSz cx="6858000" cy="9144000"/>
  <p:embeddedFontLst>
    <p:embeddedFont>
      <p:font typeface="Garamond" panose="02020404030301010803" pitchFamily="18" charset="0"/>
      <p:regular r:id="rId15"/>
      <p:bold r:id="rId16"/>
      <p:italic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FFB7B7"/>
    <a:srgbClr val="FFFF00"/>
    <a:srgbClr val="0000FF"/>
    <a:srgbClr val="FFC000"/>
    <a:srgbClr val="006600"/>
    <a:srgbClr val="99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8947" autoAdjust="0"/>
  </p:normalViewPr>
  <p:slideViewPr>
    <p:cSldViewPr>
      <p:cViewPr varScale="1">
        <p:scale>
          <a:sx n="57" d="100"/>
          <a:sy n="57" d="100"/>
        </p:scale>
        <p:origin x="36" y="19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852"/>
    </p:cViewPr>
  </p:sorter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AEE3-75C2-4741-8E3F-8E88B1DBFCF5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9583-C74F-4281-ABBE-A78FE3807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64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B0C6D-96B8-4A68-85CC-826FFA5A14B1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A69-8240-42E5-9E76-DBC0E843E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5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5BE-E445-E36B-5806-45145880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52476-4EB8-7FFF-18C8-13A106C2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83C81-974C-84EE-A055-1B89F3A1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A2D8E-CEA2-BC21-5D40-7C000F05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BAE1-A385-AAAB-2D5D-23A11648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B191B-835A-1B31-8EF1-C9BD4059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9207C-3CC3-EC1D-26C2-E5EEEC3D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63BB6-42BA-FB6A-44EE-96DFD7B7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2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3546-6C98-DF54-F746-8904B6B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B3A23-9126-609E-D4FD-62338940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F1660-A78C-4227-F46D-3AA38999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44AEC-6A1A-69E7-7870-26320C87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C28E-F32B-48BC-B981-891B9CB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6E4C0-AB80-1ADB-723F-7EB897C5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E2E21-F87A-9F49-8790-8D0EE623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F6E44-A0AE-1ABB-BA8B-7E853EBC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AACF-109B-45B3-E936-E33C7502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79C6-425A-1EE6-2508-B6AA44E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593BE-2F3A-4375-4A42-D790DF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87C80-FC2B-3578-B4F7-260E19C4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7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4D6A-74B3-BA4F-CE01-CD238DD97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EEA748-4DDD-DD61-9843-59B07BE98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9A4BE9-6101-9886-46D3-A03044093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505DC4-16D0-491A-4EA7-B83FCB1D2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00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2BC0-1228-C6BC-E87D-7523D333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711C29-146E-DDDE-0EDD-12E2DF718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ED854-9070-BDAF-A903-6428D96E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9BC15-386F-A7E4-0E02-9DB0AA02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50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4CD9-58C3-9490-8486-5F55A3C1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6ED49-50A7-EA70-9639-F3C64A54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0684C1-D7DC-6A85-F91F-117F3EE1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4F6C4-CE4C-DD0F-45BF-F456515A0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74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B37C-0284-E3AD-1266-1BC23CCC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88186-283E-6947-C5DB-F2C7BBF7B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3423E6-DD24-86FE-37C1-16FED271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A1574-74CB-3C5D-FBAC-FAC4B72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83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97A-B585-A1B1-FD98-F83BCCFB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3D5C5-0F2E-363D-C846-D736A069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5C981C-D85E-3F49-58F0-421C751F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2D695-24A5-A616-CA62-C3A932BA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149D229-E0B6-4D10-B6D2-AD9DF36808C0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53"/>
            <a:ext cx="10972800" cy="4983832"/>
          </a:xfrm>
        </p:spPr>
        <p:txBody>
          <a:bodyPr/>
          <a:lstStyle>
            <a:lvl1pPr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>
                <a:solidFill>
                  <a:schemeClr val="tx1"/>
                </a:solidFill>
              </a:defRPr>
            </a:lvl1pPr>
            <a:lvl2pPr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05273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609600" y="637705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112CF7D-B3D5-F8F0-7085-ACE37DB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EB29733-71F3-AAD2-22FA-07064DF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6FB5C33-B085-6785-B949-025F75F0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0" y="250002"/>
            <a:ext cx="10972800" cy="62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8C2D-4FB0-45BE-959B-AD58DD71321E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D5C-D52B-4168-B538-2EC2871FAB61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328C-7A93-4B0E-950E-4DACD4714DF1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2F25-5EC5-4308-8DF6-B784EBDD7317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C9F2-3258-4E72-B11A-FA439159AE68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9049-F39B-4F82-B790-DB409EA671F9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F3D-3C0E-431B-90BB-5683456AACDA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9009-EEDC-438C-A7CD-B9721AD2EDED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6E27-C346-4EFB-9DFC-A20EF264AE09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None/>
        <a:defRPr sz="30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2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CD44C-353A-EC56-F4A0-A0C5483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en-US" altLang="zh-CN" dirty="0"/>
              <a:t>2 </a:t>
            </a:r>
            <a:r>
              <a:rPr lang="zh-CN" altLang="en-US" dirty="0"/>
              <a:t>基于</a:t>
            </a:r>
            <a:r>
              <a:rPr lang="en-US" altLang="zh-CN" dirty="0" err="1"/>
              <a:t>ViT</a:t>
            </a:r>
            <a:r>
              <a:rPr lang="zh-CN" altLang="en-US" dirty="0"/>
              <a:t>的</a:t>
            </a:r>
            <a:r>
              <a:rPr lang="en-US" altLang="zh-CN" dirty="0"/>
              <a:t>CIFAR10</a:t>
            </a:r>
            <a:r>
              <a:rPr lang="zh-CN" altLang="en-US" dirty="0"/>
              <a:t>图像分类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9EFFF41-CACA-C2AA-C4E9-FF0F6C61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汇报人：徐畅杰</a:t>
            </a:r>
            <a:endParaRPr lang="en-US" altLang="zh-CN" dirty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9C23-A19B-E69E-8EB1-E15D9B6F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351BB1-1ABF-3DAD-5DFA-190216C2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b="0" dirty="0"/>
              <a:t>本实验旨在通过实现和训练 </a:t>
            </a:r>
            <a:r>
              <a:rPr lang="en-US" altLang="zh-CN" b="0" dirty="0"/>
              <a:t>Vision Transformer</a:t>
            </a:r>
            <a:r>
              <a:rPr lang="zh-CN" altLang="en-US" b="0" dirty="0"/>
              <a:t>（</a:t>
            </a:r>
            <a:r>
              <a:rPr lang="en-US" altLang="zh-CN" b="0" dirty="0" err="1"/>
              <a:t>ViT</a:t>
            </a:r>
            <a:r>
              <a:rPr lang="zh-CN" altLang="en-US" b="0" dirty="0"/>
              <a:t>）模型，完成 </a:t>
            </a:r>
            <a:r>
              <a:rPr lang="en-US" altLang="zh-CN" b="0" dirty="0"/>
              <a:t>CIFAR-10 </a:t>
            </a:r>
            <a:r>
              <a:rPr lang="zh-CN" altLang="en-US" b="0" dirty="0"/>
              <a:t>图像分类任务，并分析模型的训练过程与性能表现。</a:t>
            </a:r>
          </a:p>
          <a:p>
            <a:r>
              <a:rPr lang="zh-CN" altLang="en-US" dirty="0"/>
              <a:t>目的：</a:t>
            </a:r>
            <a:endParaRPr lang="en-US" altLang="zh-CN" dirty="0"/>
          </a:p>
          <a:p>
            <a:pPr lvl="1"/>
            <a:r>
              <a:rPr lang="zh-CN" altLang="en-US" b="0" dirty="0"/>
              <a:t>理解 </a:t>
            </a:r>
            <a:r>
              <a:rPr lang="en-US" altLang="zh-CN" b="0" dirty="0"/>
              <a:t>Vision Transformer</a:t>
            </a:r>
            <a:r>
              <a:rPr lang="zh-CN" altLang="en-US" b="0" dirty="0"/>
              <a:t>（</a:t>
            </a:r>
            <a:r>
              <a:rPr lang="en-US" altLang="zh-CN" b="0" dirty="0" err="1"/>
              <a:t>ViT</a:t>
            </a:r>
            <a:r>
              <a:rPr lang="zh-CN" altLang="en-US" b="0" dirty="0"/>
              <a:t>）在图像分类任务中的基本原理与实现方式。</a:t>
            </a:r>
          </a:p>
          <a:p>
            <a:pPr lvl="1"/>
            <a:r>
              <a:rPr lang="zh-CN" altLang="en-US" b="0" dirty="0"/>
              <a:t>掌握 </a:t>
            </a:r>
            <a:r>
              <a:rPr lang="en-US" altLang="zh-CN" b="0" dirty="0"/>
              <a:t>CIFAR-10 </a:t>
            </a:r>
            <a:r>
              <a:rPr lang="zh-CN" altLang="en-US" b="0" dirty="0"/>
              <a:t>数据集上的训练、验证、日志记录与可视化流程。</a:t>
            </a:r>
          </a:p>
          <a:p>
            <a:pPr lvl="1"/>
            <a:r>
              <a:rPr lang="zh-CN" altLang="en-US" b="0" dirty="0"/>
              <a:t>通过训练曲线分析模型收敛性，并评估 </a:t>
            </a:r>
            <a:r>
              <a:rPr lang="en-US" altLang="zh-CN" b="0" dirty="0" err="1"/>
              <a:t>ViT</a:t>
            </a:r>
            <a:r>
              <a:rPr lang="en-US" altLang="zh-CN" b="0" dirty="0"/>
              <a:t> </a:t>
            </a:r>
            <a:r>
              <a:rPr lang="zh-CN" altLang="en-US" b="0" dirty="0"/>
              <a:t>在中小规模数据集上的分类效果</a:t>
            </a:r>
            <a:br>
              <a:rPr lang="zh-CN" altLang="en-US" b="0" dirty="0"/>
            </a:b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77A54-2F39-86D9-E4E4-6A315DDE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6438A-652A-010E-D5A0-7096E41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FCD223-E633-C7CC-8EEB-E68C31A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421819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BC46-9831-A311-ADDC-A1C4FA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98EC30-A05A-2F9E-AED7-240ED13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5990456" cy="4983832"/>
          </a:xfrm>
        </p:spPr>
        <p:txBody>
          <a:bodyPr>
            <a:normAutofit/>
          </a:bodyPr>
          <a:lstStyle/>
          <a:p>
            <a:r>
              <a:rPr lang="en-US" altLang="zh-CN" dirty="0"/>
              <a:t>CIFAR-10</a:t>
            </a:r>
            <a:r>
              <a:rPr lang="zh-CN" altLang="en-US" dirty="0"/>
              <a:t>：</a:t>
            </a:r>
            <a:r>
              <a:rPr lang="en-US" altLang="zh-CN" b="0" dirty="0"/>
              <a:t>CIFAR-10 </a:t>
            </a:r>
            <a:r>
              <a:rPr lang="zh-CN" altLang="en-US" b="0" dirty="0"/>
              <a:t>是一个常用的图像分类数据集，包含 </a:t>
            </a:r>
            <a:r>
              <a:rPr lang="en-US" altLang="zh-CN" b="0" dirty="0"/>
              <a:t>60,000 </a:t>
            </a:r>
            <a:r>
              <a:rPr lang="zh-CN" altLang="en-US" b="0" dirty="0"/>
              <a:t>张 </a:t>
            </a:r>
            <a:r>
              <a:rPr lang="en-US" altLang="zh-CN" b="0" dirty="0"/>
              <a:t>32x32 </a:t>
            </a:r>
            <a:r>
              <a:rPr lang="zh-CN" altLang="en-US" b="0" dirty="0"/>
              <a:t>彩色图像，分为 </a:t>
            </a:r>
            <a:r>
              <a:rPr lang="en-US" altLang="zh-CN" b="0" dirty="0"/>
              <a:t>10 </a:t>
            </a:r>
            <a:r>
              <a:rPr lang="zh-CN" altLang="en-US" b="0" dirty="0"/>
              <a:t>个类别</a:t>
            </a:r>
          </a:p>
          <a:p>
            <a:r>
              <a:rPr lang="zh-CN" altLang="en-US" dirty="0"/>
              <a:t>数据规模：</a:t>
            </a:r>
            <a:endParaRPr lang="en-US" altLang="zh-CN" dirty="0"/>
          </a:p>
          <a:p>
            <a:pPr lvl="1"/>
            <a:r>
              <a:rPr lang="zh-CN" altLang="en-US" b="0" dirty="0"/>
              <a:t>训练集：</a:t>
            </a:r>
            <a:r>
              <a:rPr lang="en-US" altLang="zh-CN" b="0" dirty="0"/>
              <a:t>50,000 </a:t>
            </a:r>
            <a:r>
              <a:rPr lang="zh-CN" altLang="en-US" b="0" dirty="0"/>
              <a:t>张彩色图像</a:t>
            </a:r>
          </a:p>
          <a:p>
            <a:pPr lvl="1"/>
            <a:r>
              <a:rPr lang="zh-CN" altLang="en-US" b="0" dirty="0"/>
              <a:t>测试集：</a:t>
            </a:r>
            <a:r>
              <a:rPr lang="en-US" altLang="zh-CN" b="0" dirty="0"/>
              <a:t>10,000 </a:t>
            </a:r>
            <a:r>
              <a:rPr lang="zh-CN" altLang="en-US" b="0" dirty="0"/>
              <a:t>张彩色图像</a:t>
            </a:r>
          </a:p>
          <a:p>
            <a:pPr lvl="1"/>
            <a:r>
              <a:rPr lang="zh-CN" altLang="en-US" b="0" dirty="0"/>
              <a:t>分类类别：</a:t>
            </a:r>
            <a:r>
              <a:rPr lang="en-US" altLang="zh-CN" b="0" dirty="0"/>
              <a:t>10 </a:t>
            </a:r>
            <a:r>
              <a:rPr lang="zh-CN" altLang="en-US" b="0" dirty="0"/>
              <a:t>类（飞机</a:t>
            </a:r>
            <a:r>
              <a:rPr lang="en-US" altLang="zh-CN" b="0" dirty="0"/>
              <a:t>plane</a:t>
            </a:r>
            <a:r>
              <a:rPr lang="zh-CN" altLang="en-US" b="0" dirty="0"/>
              <a:t>、汽车</a:t>
            </a:r>
            <a:r>
              <a:rPr lang="en-US" altLang="zh-CN" b="0" dirty="0"/>
              <a:t>car</a:t>
            </a:r>
            <a:r>
              <a:rPr lang="zh-CN" altLang="en-US" b="0" dirty="0"/>
              <a:t>、鸟</a:t>
            </a:r>
            <a:r>
              <a:rPr lang="en-US" altLang="zh-CN" b="0" dirty="0"/>
              <a:t>bird</a:t>
            </a:r>
            <a:r>
              <a:rPr lang="zh-CN" altLang="en-US" b="0" dirty="0"/>
              <a:t>、猫</a:t>
            </a:r>
            <a:r>
              <a:rPr lang="en-US" altLang="zh-CN" b="0" dirty="0"/>
              <a:t>cat</a:t>
            </a:r>
            <a:r>
              <a:rPr lang="zh-CN" altLang="en-US" b="0" dirty="0"/>
              <a:t>、鹿</a:t>
            </a:r>
            <a:r>
              <a:rPr lang="en-US" altLang="zh-CN" b="0" dirty="0"/>
              <a:t>deer</a:t>
            </a:r>
            <a:r>
              <a:rPr lang="zh-CN" altLang="en-US" b="0" dirty="0"/>
              <a:t>、狗</a:t>
            </a:r>
            <a:r>
              <a:rPr lang="en-US" altLang="zh-CN" b="0" dirty="0"/>
              <a:t>dog</a:t>
            </a:r>
            <a:r>
              <a:rPr lang="zh-CN" altLang="en-US" b="0" dirty="0"/>
              <a:t>、青蛙</a:t>
            </a:r>
            <a:r>
              <a:rPr lang="en-US" altLang="zh-CN" b="0" dirty="0"/>
              <a:t>frog</a:t>
            </a:r>
            <a:r>
              <a:rPr lang="zh-CN" altLang="en-US" b="0" dirty="0"/>
              <a:t>、马</a:t>
            </a:r>
            <a:r>
              <a:rPr lang="en-US" altLang="zh-CN" b="0" dirty="0"/>
              <a:t>horse</a:t>
            </a:r>
            <a:r>
              <a:rPr lang="zh-CN" altLang="en-US" b="0" dirty="0"/>
              <a:t>、船</a:t>
            </a:r>
            <a:r>
              <a:rPr lang="en-US" altLang="zh-CN" b="0" dirty="0"/>
              <a:t>ship</a:t>
            </a:r>
            <a:r>
              <a:rPr lang="zh-CN" altLang="en-US" b="0" dirty="0"/>
              <a:t>、卡车</a:t>
            </a:r>
            <a:r>
              <a:rPr lang="en-US" altLang="zh-CN" b="0" dirty="0"/>
              <a:t>truck</a:t>
            </a:r>
            <a:r>
              <a:rPr lang="zh-CN" altLang="en-US" b="0" dirty="0"/>
              <a:t>），每个类各有</a:t>
            </a:r>
            <a:r>
              <a:rPr lang="en-US" altLang="zh-CN" b="0" dirty="0"/>
              <a:t>5000</a:t>
            </a:r>
            <a:r>
              <a:rPr lang="zh-CN" altLang="en-US" b="0" dirty="0"/>
              <a:t>张训练图像和</a:t>
            </a:r>
            <a:r>
              <a:rPr lang="en-US" altLang="zh-CN" b="0" dirty="0"/>
              <a:t>1000</a:t>
            </a:r>
            <a:r>
              <a:rPr lang="zh-CN" altLang="en-US" b="0" dirty="0"/>
              <a:t>张测试图像。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0DE22-D666-6C41-7B80-0025A5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A3A0-EA19-83DF-8660-BDFEB98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E7589DD4-41E5-321D-59D0-9045DAF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49238"/>
            <a:ext cx="10972800" cy="628650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pic>
        <p:nvPicPr>
          <p:cNvPr id="7" name="Picture 2" descr="【深度学习】CIFAR10图像分类_cifar10的图像分类任务-CSDN博客">
            <a:extLst>
              <a:ext uri="{FF2B5EF4-FFF2-40B4-BE49-F238E27FC236}">
                <a16:creationId xmlns:a16="http://schemas.microsoft.com/office/drawing/2014/main" id="{4C4CC90C-2A89-EC21-5D5F-F1B021238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339" y="1161025"/>
            <a:ext cx="4945761" cy="498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7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0BD-99F3-B632-6234-75CAF7B4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CB41FE-B42F-E292-835E-8505DF2B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en-US" b="0" dirty="0"/>
              <a:t>本实验使用 </a:t>
            </a:r>
            <a:r>
              <a:rPr lang="en-US" altLang="zh-CN" b="0" dirty="0"/>
              <a:t>Vision Transformer</a:t>
            </a:r>
            <a:r>
              <a:rPr lang="zh-CN" altLang="en-US" b="0" dirty="0"/>
              <a:t>（</a:t>
            </a:r>
            <a:r>
              <a:rPr lang="en-US" altLang="zh-CN" b="0" dirty="0" err="1"/>
              <a:t>ViT</a:t>
            </a:r>
            <a:r>
              <a:rPr lang="zh-CN" altLang="en-US" b="0" dirty="0"/>
              <a:t>）模型，针对训练任务设计了以下核心组件：</a:t>
            </a:r>
          </a:p>
          <a:p>
            <a:pPr lvl="1"/>
            <a:r>
              <a:rPr lang="en-US" altLang="zh-CN" dirty="0"/>
              <a:t>Patch Embedding</a:t>
            </a:r>
            <a:r>
              <a:rPr lang="zh-CN" altLang="en-US" b="0" dirty="0"/>
              <a:t>：将输入图像切分为固定大小的 </a:t>
            </a:r>
            <a:r>
              <a:rPr lang="en-US" altLang="zh-CN" b="0" dirty="0"/>
              <a:t>patch</a:t>
            </a:r>
            <a:r>
              <a:rPr lang="zh-CN" altLang="en-US" b="0" dirty="0"/>
              <a:t>，并通过线性变换映射为 </a:t>
            </a:r>
            <a:r>
              <a:rPr lang="en-US" altLang="zh-CN" b="0" dirty="0"/>
              <a:t>token </a:t>
            </a:r>
            <a:r>
              <a:rPr lang="zh-CN" altLang="en-US" b="0" dirty="0"/>
              <a:t>序列。</a:t>
            </a:r>
          </a:p>
          <a:p>
            <a:pPr lvl="1"/>
            <a:r>
              <a:rPr lang="en-US" altLang="zh-CN" dirty="0"/>
              <a:t>Transformer Encoder</a:t>
            </a:r>
            <a:r>
              <a:rPr lang="zh-CN" altLang="en-US" b="0" dirty="0"/>
              <a:t>：由多层 </a:t>
            </a:r>
            <a:r>
              <a:rPr lang="en-US" altLang="zh-CN" b="0" dirty="0"/>
              <a:t>Transformer Encoder </a:t>
            </a:r>
            <a:r>
              <a:rPr lang="zh-CN" altLang="en-US" b="0" dirty="0"/>
              <a:t>组成，包含多头自注意力机制和前馈神经网络，用于提取图像的全局特征。</a:t>
            </a:r>
          </a:p>
          <a:p>
            <a:pPr lvl="1"/>
            <a:r>
              <a:rPr lang="zh-CN" altLang="en-US" dirty="0"/>
              <a:t>分类头</a:t>
            </a:r>
            <a:r>
              <a:rPr lang="zh-CN" altLang="en-US" b="0" dirty="0"/>
              <a:t>：在 </a:t>
            </a:r>
            <a:r>
              <a:rPr lang="en-US" altLang="zh-CN" b="0" dirty="0"/>
              <a:t>Transformer Encoder </a:t>
            </a:r>
            <a:r>
              <a:rPr lang="zh-CN" altLang="en-US" b="0" dirty="0"/>
              <a:t>输出的基础上，使用一个线性层进行分类预测。 模型训练过程中，使用交叉熵损失函数优化分类性能，并通过 </a:t>
            </a:r>
            <a:r>
              <a:rPr lang="en-US" altLang="zh-CN" b="0" dirty="0" err="1"/>
              <a:t>AdamW</a:t>
            </a:r>
            <a:r>
              <a:rPr lang="en-US" altLang="zh-CN" b="0" dirty="0"/>
              <a:t> </a:t>
            </a:r>
            <a:r>
              <a:rPr lang="zh-CN" altLang="en-US" b="0" dirty="0"/>
              <a:t>优化器进行参数更新。</a:t>
            </a:r>
          </a:p>
          <a:p>
            <a:pPr lvl="1"/>
            <a:r>
              <a:rPr lang="zh-CN" altLang="en-US" dirty="0"/>
              <a:t>学习率调度</a:t>
            </a:r>
            <a:r>
              <a:rPr lang="zh-CN" altLang="en-US" b="0" dirty="0"/>
              <a:t>：采用余弦退火学习率调度器，逐渐降低学习率以促进模型收敛。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8F309E-77A2-3D30-97BA-70391DF6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1220E-FD74-8254-83A9-6B4EAFE9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D65FB6-B656-50CE-20DE-25E7207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</p:spTree>
    <p:extLst>
      <p:ext uri="{BB962C8B-B14F-4D97-AF65-F5344CB8AC3E}">
        <p14:creationId xmlns:p14="http://schemas.microsoft.com/office/powerpoint/2010/main" val="7797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E7C7-7FBB-3590-B07A-417F3A4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EBF49-1414-E354-A883-3FB3B7A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93" y="1071786"/>
            <a:ext cx="2844800" cy="477721"/>
          </a:xfrm>
        </p:spPr>
        <p:txBody>
          <a:bodyPr/>
          <a:lstStyle/>
          <a:p>
            <a:r>
              <a:rPr lang="zh-CN" altLang="en-US" dirty="0"/>
              <a:t>数据集预处理：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BC3B4-893A-ABC5-2CD1-40C88282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6C1AD-1183-C123-EC5F-166AF42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FC8A075-BB87-A1A4-F447-4EAD8A7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7B476B-6E30-F1D9-29F9-5E64C48B1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036" y="1567261"/>
            <a:ext cx="4838328" cy="4480712"/>
          </a:xfrm>
          <a:prstGeom prst="rect">
            <a:avLst/>
          </a:prstGeom>
        </p:spPr>
      </p:pic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D9A20C2E-EAAD-6447-EA90-8FC7DA05F9C6}"/>
              </a:ext>
            </a:extLst>
          </p:cNvPr>
          <p:cNvSpPr txBox="1">
            <a:spLocks/>
          </p:cNvSpPr>
          <p:nvPr/>
        </p:nvSpPr>
        <p:spPr>
          <a:xfrm>
            <a:off x="5591944" y="1196752"/>
            <a:ext cx="3744416" cy="47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Patch Embedding</a:t>
            </a:r>
            <a:r>
              <a:rPr lang="zh-CN" altLang="en-US" dirty="0"/>
              <a:t>层：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E6C85D-4D30-C9DD-FBBA-1F38D98E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736" y="1674473"/>
            <a:ext cx="5976664" cy="3076548"/>
          </a:xfrm>
          <a:prstGeom prst="rect">
            <a:avLst/>
          </a:prstGeom>
        </p:spPr>
      </p:pic>
      <p:sp>
        <p:nvSpPr>
          <p:cNvPr id="9" name="内容占位符 1">
            <a:extLst>
              <a:ext uri="{FF2B5EF4-FFF2-40B4-BE49-F238E27FC236}">
                <a16:creationId xmlns:a16="http://schemas.microsoft.com/office/drawing/2014/main" id="{10CA8C19-1236-3CC7-9AC3-3009EEF8A167}"/>
              </a:ext>
            </a:extLst>
          </p:cNvPr>
          <p:cNvSpPr txBox="1">
            <a:spLocks/>
          </p:cNvSpPr>
          <p:nvPr/>
        </p:nvSpPr>
        <p:spPr>
          <a:xfrm>
            <a:off x="5465238" y="4869160"/>
            <a:ext cx="2844800" cy="47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位置编码：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CCFEC5D-953B-0705-2A30-C0A771079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133" y="5464707"/>
            <a:ext cx="5829600" cy="3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6F-FDB0-EF5B-23D4-79C191F2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7D4EA6-665D-9EE1-2B49-96EEB6E0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CBCAB-7F9A-D227-AA67-C8DACD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F228F0-A1F9-B048-BB32-8B71E48F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A0332A8-101F-B926-5874-B7C49E7BE946}"/>
              </a:ext>
            </a:extLst>
          </p:cNvPr>
          <p:cNvSpPr txBox="1">
            <a:spLocks/>
          </p:cNvSpPr>
          <p:nvPr/>
        </p:nvSpPr>
        <p:spPr>
          <a:xfrm>
            <a:off x="6469832" y="1244026"/>
            <a:ext cx="5112568" cy="74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28A7D31-B634-C117-3354-5AA9773AE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4"/>
            <a:ext cx="4550296" cy="627732"/>
          </a:xfrm>
        </p:spPr>
        <p:txBody>
          <a:bodyPr>
            <a:normAutofit/>
          </a:bodyPr>
          <a:lstStyle/>
          <a:p>
            <a:r>
              <a:rPr lang="en-US" altLang="zh-CN" dirty="0"/>
              <a:t>CLS token</a:t>
            </a:r>
            <a:r>
              <a:rPr lang="zh-CN" altLang="en-US" dirty="0"/>
              <a:t>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4DB09A-57AE-A6A6-6BBD-B10B14227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54" y="1857524"/>
            <a:ext cx="7443244" cy="402338"/>
          </a:xfrm>
          <a:prstGeom prst="rect">
            <a:avLst/>
          </a:prstGeom>
        </p:spPr>
      </p:pic>
      <p:sp>
        <p:nvSpPr>
          <p:cNvPr id="16" name="内容占位符 10">
            <a:extLst>
              <a:ext uri="{FF2B5EF4-FFF2-40B4-BE49-F238E27FC236}">
                <a16:creationId xmlns:a16="http://schemas.microsoft.com/office/drawing/2014/main" id="{4636B68D-601C-B2F6-BB72-A0A3395240F3}"/>
              </a:ext>
            </a:extLst>
          </p:cNvPr>
          <p:cNvSpPr txBox="1">
            <a:spLocks/>
          </p:cNvSpPr>
          <p:nvPr/>
        </p:nvSpPr>
        <p:spPr>
          <a:xfrm>
            <a:off x="609600" y="4077072"/>
            <a:ext cx="4550296" cy="627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Transformer</a:t>
            </a:r>
            <a:r>
              <a:rPr lang="zh-CN" altLang="en-US" dirty="0"/>
              <a:t>编码器：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5FD8BCB-55B9-8954-6F52-0EE11E04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2463384"/>
            <a:ext cx="6807550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9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DABD-6F3C-7277-A3C8-27CA74B6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22D646-7A58-EB00-F1AA-E0EDC8F2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4AAC4F-83BD-C2A1-7623-B7AB04A4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7C80ED-C7E7-F9C8-29B8-F8A2C50C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F6875598-C470-553A-0F90-3FBF7688FDDA}"/>
              </a:ext>
            </a:extLst>
          </p:cNvPr>
          <p:cNvSpPr txBox="1">
            <a:spLocks/>
          </p:cNvSpPr>
          <p:nvPr/>
        </p:nvSpPr>
        <p:spPr>
          <a:xfrm>
            <a:off x="6469832" y="1244026"/>
            <a:ext cx="5112568" cy="74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2DB54D1E-35D4-01B1-D8F0-35C76D43A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2829811"/>
            <a:ext cx="4550296" cy="627732"/>
          </a:xfrm>
        </p:spPr>
        <p:txBody>
          <a:bodyPr>
            <a:normAutofit/>
          </a:bodyPr>
          <a:lstStyle/>
          <a:p>
            <a:r>
              <a:rPr lang="zh-CN" altLang="en-US" dirty="0"/>
              <a:t>自注意力机制：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B77D6FE-D58A-70C3-C580-42369F85E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1253752"/>
            <a:ext cx="6343972" cy="483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67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C7B-7FE6-109D-E0A9-D2E51B71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66F01C-E737-2C47-2D27-35976236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如图所示，模型能够精准的识别出图像的分类，具有较好的泛化能力。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EB044-B353-18F6-04D7-B1DCA1DC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DDB0F-DB6D-44B9-DA6E-F18790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6CFB75F-7E10-0950-BC69-D65C92DB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2CD734-5BEC-61CD-A83A-BE60BF657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7973" y="2060848"/>
            <a:ext cx="4101283" cy="328011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14A0360-6C0A-8D0A-8C8F-496E1BD56FB9}"/>
              </a:ext>
            </a:extLst>
          </p:cNvPr>
          <p:cNvSpPr txBox="1"/>
          <p:nvPr/>
        </p:nvSpPr>
        <p:spPr>
          <a:xfrm>
            <a:off x="609600" y="2572229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Font typeface="Wingdings" pitchFamily="2" charset="2"/>
              <a:buChar char="q"/>
            </a:pPr>
            <a:r>
              <a:rPr lang="zh-CN" altLang="en-US" sz="2400" b="1" dirty="0">
                <a:latin typeface="Garamond" pitchFamily="18" charset="0"/>
              </a:rPr>
              <a:t>在默认配置下，模型在测试集上的准确率达到了</a:t>
            </a:r>
            <a:r>
              <a:rPr lang="en-US" altLang="zh-CN" sz="2400" b="1" dirty="0">
                <a:latin typeface="Garamond" pitchFamily="18" charset="0"/>
              </a:rPr>
              <a:t>82.81%</a:t>
            </a:r>
            <a:r>
              <a:rPr lang="zh-CN" altLang="en-US" sz="2400" b="1" dirty="0">
                <a:latin typeface="Garamond" pitchFamily="18" charset="0"/>
              </a:rPr>
              <a:t>，表现良好，而且仍然具有继续训练的潜能。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D027767-84E1-E533-091F-A396698CC9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54" y="3675294"/>
            <a:ext cx="6775866" cy="2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91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33AE-3879-CECA-419B-5685E17F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8DAD34-AC8D-4A80-B211-46108D30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20887"/>
            <a:ext cx="5702424" cy="3785097"/>
          </a:xfrm>
        </p:spPr>
        <p:txBody>
          <a:bodyPr/>
          <a:lstStyle/>
          <a:p>
            <a:r>
              <a:rPr lang="zh-CN" altLang="en-US" dirty="0"/>
              <a:t>可见误判主要集中在猫与狗，而飞机、汽车等类别的识别较为准确。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341B3D-177F-2342-E5A9-B8573B21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26348-FEC8-2588-4D66-715E0BE2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E853CE-53B5-9DAC-A5EF-75353FBF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7DACBF-F208-420E-E45C-D309BF04C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599" y="1222153"/>
            <a:ext cx="5441801" cy="48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1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2F79-5D23-6006-F739-C59AA6A6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C573BD-5977-DF48-422D-301DCC98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不同分类的正确率如下，可见除了对于猫的分类不够理想，其他的类都较为准确，最高甚至达到了</a:t>
            </a:r>
            <a:r>
              <a:rPr lang="en-US" altLang="zh-CN" dirty="0"/>
              <a:t>94%</a:t>
            </a:r>
            <a:r>
              <a:rPr lang="zh-CN" altLang="en-US"/>
              <a:t>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07478-8FE9-98C5-9A8A-E604CBF4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ED527-3710-0414-21F1-EB2CCADD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8519F9D-71C0-0AD7-0F28-BBF7BD5A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8F4ECE-7488-6156-EF8F-3197BA51C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938" y="2570024"/>
            <a:ext cx="8726307" cy="36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6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C092-EF16-8804-9837-A2A12D1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1403B2-2EA0-F0BF-62F9-38F3C43F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b="0" dirty="0"/>
              <a:t>本实验完成了 </a:t>
            </a:r>
            <a:r>
              <a:rPr lang="en-US" altLang="zh-CN" b="0" dirty="0" err="1"/>
              <a:t>ViT</a:t>
            </a:r>
            <a:r>
              <a:rPr lang="en-US" altLang="zh-CN" b="0" dirty="0"/>
              <a:t> </a:t>
            </a:r>
            <a:r>
              <a:rPr lang="zh-CN" altLang="en-US" b="0" dirty="0"/>
              <a:t>在 </a:t>
            </a:r>
            <a:r>
              <a:rPr lang="en-US" altLang="zh-CN" b="0" dirty="0"/>
              <a:t>CIFAR-10 </a:t>
            </a:r>
            <a:r>
              <a:rPr lang="zh-CN" altLang="en-US" b="0" dirty="0"/>
              <a:t>上的端到端训练与评估流程，模型达到了 </a:t>
            </a:r>
            <a:r>
              <a:rPr lang="en-US" altLang="zh-CN" b="0" dirty="0"/>
              <a:t>`82.81%`</a:t>
            </a:r>
            <a:r>
              <a:rPr lang="zh-CN" altLang="en-US" b="0" dirty="0"/>
              <a:t> 的最高验证准确率。</a:t>
            </a:r>
          </a:p>
          <a:p>
            <a:r>
              <a:rPr lang="zh-CN" altLang="en-US" b="0" dirty="0"/>
              <a:t>从曲线看，训练与验证指标整体趋势一致，未出现明显发散，说明当前优化设置具备较好的稳定性。</a:t>
            </a:r>
          </a:p>
          <a:p>
            <a:r>
              <a:rPr lang="zh-CN" altLang="en-US" b="0" dirty="0"/>
              <a:t>后续可从数据增强强度、学习率调度策略（如余弦退火）和更长训练轮数等方面继续优化准确率。</a:t>
            </a:r>
            <a:br>
              <a:rPr lang="zh-CN" altLang="en-US" b="0" dirty="0"/>
            </a:br>
            <a:endParaRPr lang="zh-CN" altLang="en-US" b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3EF9C9-C80C-7262-D4A7-0D89F75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35F47-2113-BE54-38AB-09E18C54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847405-93FC-A0EB-9294-4F7D6ACA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798784099"/>
      </p:ext>
    </p:extLst>
  </p:cSld>
  <p:clrMapOvr>
    <a:masterClrMapping/>
  </p:clrMapOvr>
</p:sld>
</file>

<file path=ppt/theme/theme1.xml><?xml version="1.0" encoding="utf-8"?>
<a:theme xmlns:a="http://schemas.openxmlformats.org/drawingml/2006/main" name="C01-计算机系统概论4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P07-实验课课程总结</Template>
  <TotalTime>4369</TotalTime>
  <Words>577</Words>
  <Application>Microsoft Office PowerPoint</Application>
  <PresentationFormat>宽屏</PresentationFormat>
  <Paragraphs>70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Wingdings</vt:lpstr>
      <vt:lpstr>Calibri</vt:lpstr>
      <vt:lpstr>微软雅黑</vt:lpstr>
      <vt:lpstr>Courier New</vt:lpstr>
      <vt:lpstr>Arial</vt:lpstr>
      <vt:lpstr>Garamond</vt:lpstr>
      <vt:lpstr>C01-计算机系统概论4p</vt:lpstr>
      <vt:lpstr>实验2 基于ViT的CIFAR10图像分类</vt:lpstr>
      <vt:lpstr>01 实验要求</vt:lpstr>
      <vt:lpstr>02 实验环境</vt:lpstr>
      <vt:lpstr>03 实验原理</vt:lpstr>
      <vt:lpstr>04 核心代码</vt:lpstr>
      <vt:lpstr>04 核心代码</vt:lpstr>
      <vt:lpstr>04 核心代码</vt:lpstr>
      <vt:lpstr>05 实验结果</vt:lpstr>
      <vt:lpstr>05 实验结果</vt:lpstr>
      <vt:lpstr>05 实验结果</vt:lpstr>
      <vt:lpstr>06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组成原理课程期末调查问卷</dc:title>
  <dc:creator>GZ JK</dc:creator>
  <cp:lastModifiedBy>alare a</cp:lastModifiedBy>
  <cp:revision>913</cp:revision>
  <dcterms:created xsi:type="dcterms:W3CDTF">2020-07-02T18:17:07Z</dcterms:created>
  <dcterms:modified xsi:type="dcterms:W3CDTF">2026-05-08T07:54:14Z</dcterms:modified>
</cp:coreProperties>
</file>