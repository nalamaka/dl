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1" r:id="rId3"/>
    <p:sldId id="272" r:id="rId4"/>
    <p:sldId id="274" r:id="rId5"/>
    <p:sldId id="275" r:id="rId6"/>
    <p:sldId id="283" r:id="rId7"/>
    <p:sldId id="276" r:id="rId8"/>
    <p:sldId id="277" r:id="rId9"/>
    <p:sldId id="281" r:id="rId10"/>
    <p:sldId id="279" r:id="rId11"/>
  </p:sldIdLst>
  <p:sldSz cx="12192000" cy="6858000"/>
  <p:notesSz cx="6858000" cy="9144000"/>
  <p:embeddedFontLst>
    <p:embeddedFont>
      <p:font typeface="Garamond" panose="02020404030301010803" pitchFamily="18" charset="0"/>
      <p:regular r:id="rId14"/>
      <p:bold r:id="rId15"/>
      <p:italic r:id="rId16"/>
    </p:embeddedFont>
    <p:embeddedFont>
      <p:font typeface="微软雅黑" panose="020B0503020204020204" pitchFamily="34" charset="-122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000000"/>
    <a:srgbClr val="FFB7B7"/>
    <a:srgbClr val="FFFF00"/>
    <a:srgbClr val="0000FF"/>
    <a:srgbClr val="FFC000"/>
    <a:srgbClr val="006600"/>
    <a:srgbClr val="99FF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8603FDC-E32A-4AB5-989C-0864C3EAD2B8}" styleName="主题样式 2 - 强调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88947" autoAdjust="0"/>
  </p:normalViewPr>
  <p:slideViewPr>
    <p:cSldViewPr>
      <p:cViewPr varScale="1">
        <p:scale>
          <a:sx n="115" d="100"/>
          <a:sy n="115" d="100"/>
        </p:scale>
        <p:origin x="40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1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852"/>
    </p:cViewPr>
  </p:sorterViewPr>
  <p:notesViewPr>
    <p:cSldViewPr>
      <p:cViewPr varScale="1">
        <p:scale>
          <a:sx n="49" d="100"/>
          <a:sy n="49" d="100"/>
        </p:scale>
        <p:origin x="-2702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CAEE3-75C2-4741-8E3F-8E88B1DBFCF5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B9583-C74F-4281-ABBE-A78FE3807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64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B0C6D-96B8-4A68-85CC-826FFA5A14B1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2A69-8240-42E5-9E76-DBC0E843EAC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05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15BE-E445-E36B-5806-45145880C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B52476-4EB8-7FFF-18C8-13A106C25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83C81-974C-84EE-A055-1B89F3A19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A2D8E-CEA2-BC21-5D40-7C000F05B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02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FBAE1-A385-AAAB-2D5D-23A11648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9B191B-835A-1B31-8EF1-C9BD40598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09207C-3CC3-EC1D-26C2-E5EEEC3D9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C63BB6-42BA-FB6A-44EE-96DFD7B77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728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3546-6C98-DF54-F746-8904B6B94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B3A23-9126-609E-D4FD-623389403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DF1660-A78C-4227-F46D-3AA389991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144AEC-6A1A-69E7-7870-26320C878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837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2C28E-F32B-48BC-B981-891B9CB5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A6E4C0-AB80-1ADB-723F-7EB897C52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E2E21-F87A-9F49-8790-8D0EE623B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4F6E44-A0AE-1ABB-BA8B-7E853EBC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F5A6-69B8-1996-2593-374A7D7E6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BCC9B8-7097-A09F-6327-71F2D3A71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CCD7DEE-35B2-2044-97E9-4636C7738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B13191-72F1-3C3B-E5AC-64E354FB2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076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AACF-109B-45B3-E936-E33C7502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C79C6-425A-1EE6-2508-B6AA44ED3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7593BE-2F3A-4375-4A42-D790DFBD4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87C80-FC2B-3578-B4F7-260E19C40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771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2BC0-1228-C6BC-E87D-7523D333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711C29-146E-DDDE-0EDD-12E2DF718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1ED854-9070-BDAF-A903-6428D96E5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9BC15-386F-A7E4-0E02-9DB0AA024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450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B37C-0284-E3AD-1266-1BC23CCC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488186-283E-6947-C5DB-F2C7BBF7B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3423E6-DD24-86FE-37C1-16FED2716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1A1574-74CB-3C5D-FBAC-FAC4B724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83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0797A-B585-A1B1-FD98-F83BCCFB2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A3D5C5-0F2E-363D-C846-D736A0696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5C981C-D85E-3F49-58F0-421C751FA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2D695-24A5-A616-CA62-C3A932BAF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2A69-8240-42E5-9E76-DBC0E843EAC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4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itchFamily="18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5149D229-E0B6-4D10-B6D2-AD9DF36808C0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153"/>
            <a:ext cx="10972800" cy="4983832"/>
          </a:xfrm>
        </p:spPr>
        <p:txBody>
          <a:bodyPr/>
          <a:lstStyle>
            <a:lvl1pPr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>
                <a:solidFill>
                  <a:schemeClr val="tx1"/>
                </a:solidFill>
              </a:defRPr>
            </a:lvl1pPr>
            <a:lvl2pPr>
              <a:defRPr sz="2200"/>
            </a:lvl2pPr>
            <a:lvl3pPr>
              <a:defRPr sz="18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05273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"/>
          <p:cNvCxnSpPr/>
          <p:nvPr userDrawn="1"/>
        </p:nvCxnSpPr>
        <p:spPr>
          <a:xfrm>
            <a:off x="609600" y="6377056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9112CF7D-B3D5-F8F0-7085-ACE37DB8D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6EB29733-71F3-AAD2-22FA-07064DF0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6FB5C33-B085-6785-B949-025F75F0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0" y="250002"/>
            <a:ext cx="10972800" cy="627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8C2D-4FB0-45BE-959B-AD58DD71321E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4D5C-D52B-4168-B538-2EC2871FAB61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6328C-7A93-4B0E-950E-4DACD4714DF1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A2F25-5EC5-4308-8DF6-B784EBDD7317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C9F2-3258-4E72-B11A-FA439159AE68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B9049-F39B-4F82-B790-DB409EA671F9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F5F3D-3C0E-431B-90BB-5683456AACDA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09009-EEDC-438C-A7CD-B9721AD2EDED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46E27-C346-4EFB-9DFC-A20EF264AE09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800" b="1" kern="1200">
          <a:solidFill>
            <a:schemeClr val="tx1"/>
          </a:solidFill>
          <a:latin typeface="Garamond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None/>
        <a:defRPr sz="3000" kern="1200">
          <a:solidFill>
            <a:schemeClr val="tx1"/>
          </a:solidFill>
          <a:latin typeface="Garamond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alibri" pitchFamily="34" charset="0"/>
        <a:buChar char="–"/>
        <a:defRPr sz="2200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800" kern="1200">
          <a:solidFill>
            <a:schemeClr val="tx1"/>
          </a:solidFill>
          <a:latin typeface="Garamond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Garamond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mi.eng.cam.ac.uk/research/projects/VideoRec/CamVid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CD44C-353A-EC56-F4A0-A0C548351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916832"/>
            <a:ext cx="10363200" cy="14700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实验</a:t>
            </a:r>
            <a:r>
              <a:rPr lang="en-US" altLang="zh-CN" dirty="0"/>
              <a:t>6 </a:t>
            </a:r>
            <a:r>
              <a:rPr lang="zh-CN" altLang="zh-CN" dirty="0"/>
              <a:t>基于SegNet的街景分割实验指导书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9EFFF41-CACA-C2AA-C4E9-FF0F6C61D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dirty="0"/>
              <a:t>汇报人：徐畅杰</a:t>
            </a:r>
            <a:endParaRPr lang="en-US" altLang="zh-CN" dirty="0"/>
          </a:p>
          <a:p>
            <a:pPr algn="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66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9C23-A19B-E69E-8EB1-E15D9B6F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351BB1-1ABF-3DAD-5DFA-190216C29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>
            <a:normAutofit/>
          </a:bodyPr>
          <a:lstStyle/>
          <a:p>
            <a:r>
              <a:rPr lang="zh-CN" altLang="en-US" dirty="0"/>
              <a:t>本实验旨在实现并验证一个基于 </a:t>
            </a:r>
            <a:r>
              <a:rPr lang="en-US" altLang="zh-CN" dirty="0" err="1"/>
              <a:t>SegNet</a:t>
            </a:r>
            <a:r>
              <a:rPr lang="en-US" altLang="zh-CN" dirty="0"/>
              <a:t> </a:t>
            </a:r>
            <a:r>
              <a:rPr lang="zh-CN" altLang="en-US" dirty="0"/>
              <a:t>的街景语义分割系统，在 </a:t>
            </a:r>
            <a:r>
              <a:rPr lang="en-US" altLang="zh-CN" dirty="0" err="1"/>
              <a:t>CamVid</a:t>
            </a:r>
            <a:r>
              <a:rPr lang="en-US" altLang="zh-CN" dirty="0"/>
              <a:t> </a:t>
            </a:r>
            <a:r>
              <a:rPr lang="zh-CN" altLang="en-US" dirty="0"/>
              <a:t>数据集上完成像素级分类任务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目的：</a:t>
            </a:r>
            <a:endParaRPr lang="zh-CN" altLang="zh-CN" b="0" dirty="0"/>
          </a:p>
          <a:p>
            <a:pPr lvl="1"/>
            <a:r>
              <a:rPr lang="zh-CN" altLang="zh-CN" b="0" dirty="0"/>
              <a:t>主干类别（Sky、Road、Building）与小目标类别（Pole、SignSymbol、Pedestrian、Bicyclist）的性能差异。</a:t>
            </a:r>
          </a:p>
          <a:p>
            <a:pPr lvl="1"/>
            <a:r>
              <a:rPr lang="zh-CN" altLang="zh-CN" b="0" dirty="0"/>
              <a:t>训练稳定性与泛化能力。</a:t>
            </a:r>
          </a:p>
          <a:p>
            <a:pPr lvl="1"/>
            <a:r>
              <a:rPr lang="zh-CN" altLang="zh-CN" b="0" dirty="0"/>
              <a:t>类别不均衡和边界混淆对 mIoU 的影响。</a:t>
            </a:r>
            <a:br>
              <a:rPr lang="zh-CN" altLang="en-US" b="0" dirty="0"/>
            </a:br>
            <a:endParaRPr lang="zh-CN" altLang="en-US" b="0" dirty="0"/>
          </a:p>
          <a:p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277A54-2F39-86D9-E4E4-6A315DDE0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86438A-652A-010E-D5A0-7096E416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5FCD223-E633-C7CC-8EEB-E68C31A5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实验要求</a:t>
            </a:r>
          </a:p>
        </p:txBody>
      </p:sp>
    </p:spTree>
    <p:extLst>
      <p:ext uri="{BB962C8B-B14F-4D97-AF65-F5344CB8AC3E}">
        <p14:creationId xmlns:p14="http://schemas.microsoft.com/office/powerpoint/2010/main" val="4218194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BC46-9831-A311-ADDC-A1C4FAB8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398EC30-A05A-2F9E-AED7-240ED138E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5990456" cy="4983832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翻译数据集：</a:t>
            </a:r>
            <a:r>
              <a:rPr lang="zh-CN" altLang="en-US" sz="2800" b="0" dirty="0"/>
              <a:t>本实验使用</a:t>
            </a:r>
            <a:r>
              <a:rPr lang="en-US" altLang="zh-CN" sz="2800" b="0" dirty="0" err="1"/>
              <a:t>CamVid</a:t>
            </a:r>
            <a:r>
              <a:rPr lang="zh-CN" altLang="en-US" sz="2800" b="0" dirty="0"/>
              <a:t>示例数据集</a:t>
            </a:r>
            <a:endParaRPr lang="en-US" altLang="zh-CN" sz="2800" b="0" dirty="0"/>
          </a:p>
          <a:p>
            <a:pPr lvl="1"/>
            <a:r>
              <a:rPr lang="zh-CN" altLang="en-US" sz="2600" dirty="0"/>
              <a:t>下载地址：</a:t>
            </a:r>
            <a:r>
              <a:rPr lang="zh-CN" altLang="en-US" sz="2400" dirty="0"/>
              <a:t> ：</a:t>
            </a:r>
            <a:r>
              <a:rPr lang="zh-CN" altLang="zh-CN" sz="2400" dirty="0">
                <a:hlinkClick r:id="rId3"/>
              </a:rPr>
              <a:t>http://mi.eng.cam.ac.uk/research/projects/VideoRec/CamVid/</a:t>
            </a:r>
            <a:endParaRPr lang="en-US" altLang="zh-CN" sz="2400" dirty="0"/>
          </a:p>
          <a:p>
            <a:r>
              <a:rPr lang="zh-CN" altLang="en-US" sz="3000" dirty="0"/>
              <a:t>包含：</a:t>
            </a:r>
            <a:endParaRPr lang="en-US" altLang="zh-CN" sz="3000" dirty="0"/>
          </a:p>
          <a:p>
            <a:pPr lvl="1"/>
            <a:r>
              <a:rPr lang="zh-CN" altLang="zh-CN" b="0" dirty="0"/>
              <a:t>训练集：367</a:t>
            </a:r>
          </a:p>
          <a:p>
            <a:pPr lvl="1"/>
            <a:r>
              <a:rPr lang="zh-CN" altLang="zh-CN" b="0" dirty="0"/>
              <a:t>验证集：101</a:t>
            </a:r>
          </a:p>
          <a:p>
            <a:pPr lvl="1"/>
            <a:r>
              <a:rPr lang="zh-CN" altLang="zh-CN" b="0" dirty="0"/>
              <a:t>测试集：233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E0DE22-D666-6C41-7B80-0025A5D4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DA3A0-EA19-83DF-8660-BDFEB98B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E7589DD4-41E5-321D-59D0-9045DAF4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49238"/>
            <a:ext cx="10972800" cy="628650"/>
          </a:xfrm>
        </p:spPr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B533B2-F7E0-A906-AA2E-C5855A2D5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128" y="2492896"/>
            <a:ext cx="432048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1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20BD-99F3-B632-6234-75CAF7B4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CB41FE-B42F-E292-835E-8505DF2B1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>
            <a:normAutofit/>
          </a:bodyPr>
          <a:lstStyle/>
          <a:p>
            <a:r>
              <a:rPr lang="zh-CN" altLang="zh-CN" b="0" dirty="0"/>
              <a:t>本实验采用 SegNet 编码器-解码器结构，核心特点如下：</a:t>
            </a:r>
          </a:p>
          <a:p>
            <a:pPr lvl="1"/>
            <a:r>
              <a:rPr lang="zh-CN" altLang="zh-CN" b="0" dirty="0"/>
              <a:t>编码端通过多层 Conv-BN-ReLU 提取语义特征。</a:t>
            </a:r>
          </a:p>
          <a:p>
            <a:pPr lvl="1"/>
            <a:r>
              <a:rPr lang="zh-CN" altLang="zh-CN" b="0" dirty="0"/>
              <a:t>使用 MaxPool(return_indices=True) 记录池化索引。</a:t>
            </a:r>
          </a:p>
          <a:p>
            <a:pPr lvl="1"/>
            <a:r>
              <a:rPr lang="zh-CN" altLang="zh-CN" b="0" dirty="0"/>
              <a:t>解码端使用 MaxUnpool 按索引恢复空间结构。</a:t>
            </a:r>
          </a:p>
          <a:p>
            <a:pPr lvl="1"/>
            <a:r>
              <a:rPr lang="zh-CN" altLang="zh-CN" b="0" dirty="0"/>
              <a:t>最后用 1x1 卷积输出 11 类 logits。</a:t>
            </a:r>
          </a:p>
          <a:p>
            <a:r>
              <a:rPr lang="zh-CN" altLang="zh-CN" b="0" dirty="0"/>
              <a:t>当前通道配置：</a:t>
            </a:r>
          </a:p>
          <a:p>
            <a:pPr lvl="1"/>
            <a:r>
              <a:rPr lang="zh-CN" altLang="zh-CN" b="0" dirty="0"/>
              <a:t>encoder_channels = (64, 128, 256, 512, 512)</a:t>
            </a:r>
          </a:p>
          <a:p>
            <a:pPr lvl="1"/>
            <a:r>
              <a:rPr lang="zh-CN" altLang="zh-CN" b="0" dirty="0"/>
              <a:t>block_depths = (2, 2, 3, 3, 3)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8F309E-77A2-3D30-97BA-70391DF6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A1220E-FD74-8254-83A9-6B4EAFE9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D2D65FB6-B656-50CE-20DE-25E7207C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</p:spTree>
    <p:extLst>
      <p:ext uri="{BB962C8B-B14F-4D97-AF65-F5344CB8AC3E}">
        <p14:creationId xmlns:p14="http://schemas.microsoft.com/office/powerpoint/2010/main" val="77979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E7C7-7FBB-3590-B07A-417F3A41C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0EBF49-1414-E354-A883-3FB3B7A7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340768"/>
            <a:ext cx="8605836" cy="1133078"/>
          </a:xfrm>
        </p:spPr>
        <p:txBody>
          <a:bodyPr>
            <a:normAutofit/>
          </a:bodyPr>
          <a:lstStyle/>
          <a:p>
            <a:r>
              <a:rPr lang="zh-CN" altLang="zh-CN" dirty="0"/>
              <a:t>训练主循环：每个 epoch 完成 train -&gt; val/test evaluate -&gt; 保存 best/last </a:t>
            </a:r>
            <a:r>
              <a:rPr lang="zh-CN" altLang="en-US" dirty="0"/>
              <a:t>：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CBC3B4-893A-ABC5-2CD1-40C88282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6C1AD-1183-C123-EC5F-166AF42F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FC8A075-BB87-A1A4-F447-4EAD8A70E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F1C09F5-0904-119F-C9C5-34BB87735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171" y="2564904"/>
            <a:ext cx="8283658" cy="26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E0E78-9018-47AF-5C0A-DB6DA7E6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D40AD63-84D4-9C9D-937C-3D9D672D5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340768"/>
            <a:ext cx="10297144" cy="1133078"/>
          </a:xfrm>
        </p:spPr>
        <p:txBody>
          <a:bodyPr>
            <a:normAutofit/>
          </a:bodyPr>
          <a:lstStyle/>
          <a:p>
            <a:r>
              <a:rPr lang="zh-CN" altLang="zh-CN" dirty="0"/>
              <a:t>类别重加权：从训练标签统计频率后⽣成权重</a:t>
            </a:r>
            <a:r>
              <a:rPr lang="zh-CN" altLang="en-US" dirty="0"/>
              <a:t>：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B53BE7-2A81-1043-F4F6-55F8B5DD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46D24F-9C17-B9C2-7C12-07D718B05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45B5BC3-F4E6-50E6-9B55-D7F0D582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B6CAD2-7901-0D48-95CB-55CC09995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241" y="2482194"/>
            <a:ext cx="9429517" cy="227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93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54F6F-FDB0-EF5B-23D4-79C191F2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7D4EA6-665D-9EE1-2B49-96EEB6E0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CBCAB-7F9A-D227-AA67-C8DACD6C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6F228F0-A1F9-B048-BB32-8B71E48F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核心代码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CA0332A8-101F-B926-5874-B7C49E7BE946}"/>
              </a:ext>
            </a:extLst>
          </p:cNvPr>
          <p:cNvSpPr txBox="1">
            <a:spLocks/>
          </p:cNvSpPr>
          <p:nvPr/>
        </p:nvSpPr>
        <p:spPr>
          <a:xfrm>
            <a:off x="6469832" y="1244026"/>
            <a:ext cx="5112568" cy="7442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q"/>
              <a:defRPr sz="2400" b="1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Calibri" pitchFamily="34" charset="0"/>
              <a:buChar char="–"/>
              <a:defRPr sz="18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4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Garamond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B28A7D31-B634-C117-3354-5AA9773AE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4400" y="1318976"/>
            <a:ext cx="4046240" cy="789585"/>
          </a:xfrm>
        </p:spPr>
        <p:txBody>
          <a:bodyPr>
            <a:normAutofit/>
          </a:bodyPr>
          <a:lstStyle/>
          <a:p>
            <a:r>
              <a:rPr lang="zh-CN" altLang="zh-CN" dirty="0"/>
              <a:t>AMP + 梯度裁剪细节：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5A7AD7-80E4-D0B5-EEF8-606DDAC3D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2280771"/>
            <a:ext cx="9312447" cy="29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697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9C7B-7FE6-109D-E0A9-D2E51B71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A66F01C-E737-2C47-2D27-35976236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420887"/>
            <a:ext cx="4234032" cy="3785097"/>
          </a:xfrm>
        </p:spPr>
        <p:txBody>
          <a:bodyPr/>
          <a:lstStyle/>
          <a:p>
            <a:r>
              <a:rPr lang="zh-CN" altLang="zh-CN" dirty="0"/>
              <a:t>⼀开始训练速度较快，但是随着时间推移，损失下降和 mIoU 提升逐渐减缓，说明模型在主类上已接 近收敛，⽽⼩⽬标类别仍然存在较⼤提升空间。</a:t>
            </a:r>
            <a:endParaRPr lang="en-US" alt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4EB044-B353-18F6-04D7-B1DCA1DC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EDDB0F-DB6D-44B9-DA6E-F1879064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6CFB75F-7E10-0950-BC69-D65C92DB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3AB547-4818-843C-994C-2B7E53AF7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968" y="1094740"/>
            <a:ext cx="4896544" cy="26522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ABB6737-CB39-98DB-7B7F-F733AAEE5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6" y="3738351"/>
            <a:ext cx="4824536" cy="253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91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2F79-5D23-6006-F739-C59AA6A6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C573BD-5977-DF48-422D-301DCC982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4910336" cy="4983832"/>
          </a:xfrm>
        </p:spPr>
        <p:txBody>
          <a:bodyPr/>
          <a:lstStyle/>
          <a:p>
            <a:r>
              <a:rPr lang="zh-CN" altLang="zh-CN" dirty="0">
                <a:latin typeface="+mn-ea"/>
              </a:rPr>
              <a:t>下图展⽰了预测结果与原图、标签的对⽐，三组样例分别选⾃测试集中的 0001TP_008550 、 Seq05VD_f00000 和 Seq05VD_f01020 。</a:t>
            </a:r>
            <a:endParaRPr lang="en-US" altLang="zh-CN" dirty="0">
              <a:latin typeface="+mn-ea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B07478-8FE9-98C5-9A8A-E604CBF4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ED527-3710-0414-21F1-EB2CCADD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8519F9D-71C0-0AD7-0F28-BBF7BD5A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05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25DE5B-3E43-2185-7D53-5AFB0C30E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2" y="1772816"/>
            <a:ext cx="6147471" cy="408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6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C092-EF16-8804-9837-A2A12D1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1403B2-2EA0-F0BF-62F9-38F3C43FA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22153"/>
            <a:ext cx="10742984" cy="4983832"/>
          </a:xfrm>
        </p:spPr>
        <p:txBody>
          <a:bodyPr>
            <a:normAutofit/>
          </a:bodyPr>
          <a:lstStyle/>
          <a:p>
            <a:r>
              <a:rPr lang="zh-CN" altLang="en-US" dirty="0"/>
              <a:t>本实验已完成 </a:t>
            </a:r>
            <a:r>
              <a:rPr lang="en-US" altLang="zh-CN" dirty="0" err="1"/>
              <a:t>CamVid</a:t>
            </a:r>
            <a:r>
              <a:rPr lang="en-US" altLang="zh-CN" dirty="0"/>
              <a:t> </a:t>
            </a:r>
            <a:r>
              <a:rPr lang="zh-CN" altLang="en-US" dirty="0"/>
              <a:t>语义分割流程的工程闭环（训练</a:t>
            </a:r>
            <a:r>
              <a:rPr lang="en-US" altLang="zh-CN" dirty="0"/>
              <a:t>/</a:t>
            </a:r>
            <a:r>
              <a:rPr lang="zh-CN" altLang="en-US" dirty="0"/>
              <a:t>评估</a:t>
            </a:r>
            <a:r>
              <a:rPr lang="en-US" altLang="zh-CN" dirty="0"/>
              <a:t>/</a:t>
            </a:r>
            <a:r>
              <a:rPr lang="zh-CN" altLang="en-US" dirty="0"/>
              <a:t>预测</a:t>
            </a:r>
            <a:r>
              <a:rPr lang="en-US" altLang="zh-CN" dirty="0"/>
              <a:t>/</a:t>
            </a:r>
            <a:r>
              <a:rPr lang="zh-CN" altLang="en-US" dirty="0"/>
              <a:t>可视化）。在当前配置下，模型对主类表现较好，测试集达到 </a:t>
            </a:r>
            <a:r>
              <a:rPr lang="en-US" altLang="zh-CN" dirty="0" err="1"/>
              <a:t>mIoU</a:t>
            </a:r>
            <a:r>
              <a:rPr lang="en-US" altLang="zh-CN" dirty="0"/>
              <a:t> 0.5177</a:t>
            </a:r>
            <a:r>
              <a:rPr lang="zh-CN" altLang="en-US" dirty="0"/>
              <a:t>；但在小目标类别与道路边界细分方面仍有明显短板。</a:t>
            </a:r>
            <a:endParaRPr lang="en-US" altLang="zh-CN" dirty="0"/>
          </a:p>
          <a:p>
            <a:r>
              <a:rPr lang="zh-CN" altLang="en-US" dirty="0"/>
              <a:t>后续可进一步从以下方向继续优化：</a:t>
            </a:r>
          </a:p>
          <a:p>
            <a:pPr lvl="1"/>
            <a:r>
              <a:rPr lang="zh-CN" altLang="zh-CN" b="0" dirty="0"/>
              <a:t>1. 损失函数增强：CE + Dice 或 CE + Focal，提升小目标召回。</a:t>
            </a:r>
          </a:p>
          <a:p>
            <a:pPr lvl="1"/>
            <a:r>
              <a:rPr lang="zh-CN" altLang="zh-CN" b="0" dirty="0"/>
              <a:t>2. 结构增强：引入更强 backbone 或轻量级多尺度特征融合。</a:t>
            </a:r>
          </a:p>
          <a:p>
            <a:pPr lvl="1"/>
            <a:r>
              <a:rPr lang="zh-CN" altLang="zh-CN" b="0" dirty="0"/>
              <a:t>3. 训练策略：更长训练周期、类别重采样、困难样本挖掘。</a:t>
            </a:r>
          </a:p>
          <a:p>
            <a:pPr lvl="1"/>
            <a:r>
              <a:rPr lang="zh-CN" altLang="zh-CN" b="0" dirty="0"/>
              <a:t>4. 推理策略：多尺度与水平翻转 TTA。</a:t>
            </a:r>
          </a:p>
          <a:p>
            <a:pPr lvl="1"/>
            <a:r>
              <a:rPr lang="zh-CN" altLang="zh-CN" b="0" dirty="0"/>
              <a:t>5. 数据与标注：重点排查 Pavement 与 Road 的标签一致性。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3EF9C9-C80C-7262-D4A7-0D89F75CD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15BA-1A34-44E2-BD29-C0FDB412061B}" type="datetime1">
              <a:rPr lang="zh-CN" altLang="en-US" smtClean="0"/>
              <a:t>2026/7/3</a:t>
            </a:fld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035F47-2113-BE54-38AB-09E18C542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7847405-93FC-A0EB-9294-4F7D6ACA0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06 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798784099"/>
      </p:ext>
    </p:extLst>
  </p:cSld>
  <p:clrMapOvr>
    <a:masterClrMapping/>
  </p:clrMapOvr>
</p:sld>
</file>

<file path=ppt/theme/theme1.xml><?xml version="1.0" encoding="utf-8"?>
<a:theme xmlns:a="http://schemas.openxmlformats.org/drawingml/2006/main" name="C01-计算机系统概论4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P07-实验课课程总结</Template>
  <TotalTime>4451</TotalTime>
  <Words>552</Words>
  <Application>Microsoft Office PowerPoint</Application>
  <PresentationFormat>宽屏</PresentationFormat>
  <Paragraphs>69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Courier New</vt:lpstr>
      <vt:lpstr>Arial</vt:lpstr>
      <vt:lpstr>微软雅黑</vt:lpstr>
      <vt:lpstr>Garamond</vt:lpstr>
      <vt:lpstr>Calibri</vt:lpstr>
      <vt:lpstr>Wingdings</vt:lpstr>
      <vt:lpstr>C01-计算机系统概论4p</vt:lpstr>
      <vt:lpstr>实验6 基于SegNet的街景分割实验指导书</vt:lpstr>
      <vt:lpstr>01 实验要求</vt:lpstr>
      <vt:lpstr>02 实验环境</vt:lpstr>
      <vt:lpstr>03 实验原理</vt:lpstr>
      <vt:lpstr>04 核心代码</vt:lpstr>
      <vt:lpstr>04 核心代码</vt:lpstr>
      <vt:lpstr>04 核心代码</vt:lpstr>
      <vt:lpstr>05 实验结果</vt:lpstr>
      <vt:lpstr>05 实验结果</vt:lpstr>
      <vt:lpstr>06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组成原理课程期末调查问卷</dc:title>
  <dc:creator>GZ JK</dc:creator>
  <cp:lastModifiedBy>alare a</cp:lastModifiedBy>
  <cp:revision>920</cp:revision>
  <dcterms:created xsi:type="dcterms:W3CDTF">2020-07-02T18:17:07Z</dcterms:created>
  <dcterms:modified xsi:type="dcterms:W3CDTF">2026-07-03T10:18:45Z</dcterms:modified>
</cp:coreProperties>
</file>