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1" r:id="rId3"/>
    <p:sldId id="272" r:id="rId4"/>
    <p:sldId id="274" r:id="rId5"/>
    <p:sldId id="275" r:id="rId6"/>
    <p:sldId id="276" r:id="rId7"/>
    <p:sldId id="277" r:id="rId8"/>
    <p:sldId id="278" r:id="rId9"/>
    <p:sldId id="281" r:id="rId10"/>
    <p:sldId id="279" r:id="rId11"/>
  </p:sldIdLst>
  <p:sldSz cx="12192000" cy="6858000"/>
  <p:notesSz cx="6858000" cy="9144000"/>
  <p:embeddedFontLst>
    <p:embeddedFont>
      <p:font typeface="Garamond" panose="02020404030301010803" pitchFamily="18" charset="0"/>
      <p:regular r:id="rId14"/>
      <p:bold r:id="rId15"/>
      <p:italic r:id="rId16"/>
    </p:embeddedFont>
    <p:embeddedFont>
      <p:font typeface="微软雅黑" panose="020B0503020204020204" pitchFamily="34" charset="-122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000000"/>
    <a:srgbClr val="FFB7B7"/>
    <a:srgbClr val="FFFF00"/>
    <a:srgbClr val="0000FF"/>
    <a:srgbClr val="FFC000"/>
    <a:srgbClr val="006600"/>
    <a:srgbClr val="99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88947" autoAdjust="0"/>
  </p:normalViewPr>
  <p:slideViewPr>
    <p:cSldViewPr>
      <p:cViewPr varScale="1">
        <p:scale>
          <a:sx n="74" d="100"/>
          <a:sy n="74" d="100"/>
        </p:scale>
        <p:origin x="88" y="15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13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852"/>
    </p:cViewPr>
  </p:sorterViewPr>
  <p:notesViewPr>
    <p:cSldViewPr>
      <p:cViewPr varScale="1">
        <p:scale>
          <a:sx n="49" d="100"/>
          <a:sy n="49" d="100"/>
        </p:scale>
        <p:origin x="-2702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CAEE3-75C2-4741-8E3F-8E88B1DBFCF5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B9583-C74F-4281-ABBE-A78FE3807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64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B0C6D-96B8-4A68-85CC-826FFA5A14B1}" type="datetimeFigureOut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2A69-8240-42E5-9E76-DBC0E843EA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05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15BE-E445-E36B-5806-45145880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B52476-4EB8-7FFF-18C8-13A106C25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C83C81-974C-84EE-A055-1B89F3A19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A2D8E-CEA2-BC21-5D40-7C000F05B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02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BAE1-A385-AAAB-2D5D-23A11648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9B191B-835A-1B31-8EF1-C9BD40598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09207C-3CC3-EC1D-26C2-E5EEEC3D9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C63BB6-42BA-FB6A-44EE-96DFD7B77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28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3546-6C98-DF54-F746-8904B6B9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CB3A23-9126-609E-D4FD-623389403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DF1660-A78C-4227-F46D-3AA389991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144AEC-6A1A-69E7-7870-26320C878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3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C28E-F32B-48BC-B981-891B9CB5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A6E4C0-AB80-1ADB-723F-7EB897C52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4E2E21-F87A-9F49-8790-8D0EE623B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4F6E44-A0AE-1ABB-BA8B-7E853EBC8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7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AACF-109B-45B3-E936-E33C7502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BC79C6-425A-1EE6-2508-B6AA44ED3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593BE-2F3A-4375-4A42-D790DFBD4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87C80-FC2B-3578-B4F7-260E19C40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771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2BC0-1228-C6BC-E87D-7523D333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711C29-146E-DDDE-0EDD-12E2DF718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1ED854-9070-BDAF-A903-6428D96E5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9BC15-386F-A7E4-0E02-9DB0AA024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50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4CD9-58C3-9490-8486-5F55A3C1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56ED49-50A7-EA70-9639-F3C64A54D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0684C1-D7DC-6A85-F91F-117F3EE14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E4F6C4-CE4C-DD0F-45BF-F456515A0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74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B37C-0284-E3AD-1266-1BC23CCC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488186-283E-6947-C5DB-F2C7BBF7B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3423E6-DD24-86FE-37C1-16FED2716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1A1574-74CB-3C5D-FBAC-FAC4B724A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283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797A-B585-A1B1-FD98-F83BCCFB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A3D5C5-0F2E-363D-C846-D736A0696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5C981C-D85E-3F49-58F0-421C751FA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52D695-24A5-A616-CA62-C3A932BAF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4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5149D229-E0B6-4D10-B6D2-AD9DF36808C0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53"/>
            <a:ext cx="10972800" cy="4983832"/>
          </a:xfrm>
        </p:spPr>
        <p:txBody>
          <a:bodyPr/>
          <a:lstStyle>
            <a:lvl1pPr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>
                <a:solidFill>
                  <a:schemeClr val="tx1"/>
                </a:solidFill>
              </a:defRPr>
            </a:lvl1pPr>
            <a:lvl2pPr>
              <a:defRPr sz="2200"/>
            </a:lvl2pPr>
            <a:lvl3pPr>
              <a:defRPr sz="18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05273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609600" y="637705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9112CF7D-B3D5-F8F0-7085-ACE37DB8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6EB29733-71F3-AAD2-22FA-07064DF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6FB5C33-B085-6785-B949-025F75F0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00" y="250002"/>
            <a:ext cx="10972800" cy="627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8C2D-4FB0-45BE-959B-AD58DD71321E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4D5C-D52B-4168-B538-2EC2871FAB61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328C-7A93-4B0E-950E-4DACD4714DF1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2F25-5EC5-4308-8DF6-B784EBDD7317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C9F2-3258-4E72-B11A-FA439159AE68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9049-F39B-4F82-B790-DB409EA671F9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5F3D-3C0E-431B-90BB-5683456AACDA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09009-EEDC-438C-A7CD-B9721AD2EDED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6E27-C346-4EFB-9DFC-A20EF264AE09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800" b="1" kern="1200">
          <a:solidFill>
            <a:schemeClr val="tx1"/>
          </a:solidFill>
          <a:latin typeface="Garamond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None/>
        <a:defRPr sz="3000" kern="1200">
          <a:solidFill>
            <a:schemeClr val="tx1"/>
          </a:solidFill>
          <a:latin typeface="Garamond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200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/>
          </a:solidFill>
          <a:latin typeface="Garamond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Garamond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CD44C-353A-EC56-F4A0-A0C548351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916832"/>
            <a:ext cx="10363200" cy="1470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自动写诗 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9EFFF41-CACA-C2AA-C4E9-FF0F6C61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/>
              <a:t>汇报人：徐畅杰</a:t>
            </a:r>
            <a:endParaRPr lang="en-US" altLang="zh-CN" dirty="0"/>
          </a:p>
          <a:p>
            <a:pPr algn="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36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9C23-A19B-E69E-8EB1-E15D9B6F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351BB1-1ABF-3DAD-5DFA-190216C29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dirty="0"/>
              <a:t>理解和掌握循环神经网络概念及在深度学习框架中的实现。</a:t>
            </a:r>
            <a:endParaRPr lang="en-US" altLang="zh-CN" dirty="0"/>
          </a:p>
          <a:p>
            <a:r>
              <a:rPr lang="zh-CN" altLang="en-US" dirty="0"/>
              <a:t>目的：</a:t>
            </a:r>
            <a:endParaRPr lang="en-US" altLang="zh-CN" dirty="0"/>
          </a:p>
          <a:p>
            <a:pPr lvl="1"/>
            <a:r>
              <a:rPr lang="zh-CN" altLang="en-US" b="0" dirty="0"/>
              <a:t>在不依赖大语言模型微调（不使用 </a:t>
            </a:r>
            <a:r>
              <a:rPr lang="en-US" altLang="zh-CN" b="0" dirty="0" err="1"/>
              <a:t>LoRA</a:t>
            </a:r>
            <a:r>
              <a:rPr lang="en-US" altLang="zh-CN" b="0" dirty="0"/>
              <a:t>/</a:t>
            </a:r>
            <a:r>
              <a:rPr lang="en-US" altLang="zh-CN" b="0" dirty="0" err="1"/>
              <a:t>QLoRA</a:t>
            </a:r>
            <a:r>
              <a:rPr lang="en-US" altLang="zh-CN" b="0" dirty="0"/>
              <a:t>/</a:t>
            </a:r>
            <a:r>
              <a:rPr lang="zh-CN" altLang="en-US" b="0" dirty="0"/>
              <a:t>外部 </a:t>
            </a:r>
            <a:r>
              <a:rPr lang="en-US" altLang="zh-CN" b="0" dirty="0"/>
              <a:t>LLM</a:t>
            </a:r>
            <a:r>
              <a:rPr lang="zh-CN" altLang="en-US" b="0" dirty="0"/>
              <a:t>）的条件下，实现可训练的中文诗歌生成模型。</a:t>
            </a:r>
          </a:p>
          <a:p>
            <a:pPr lvl="1"/>
            <a:r>
              <a:rPr lang="zh-CN" altLang="en-US" b="0" dirty="0"/>
              <a:t>设计并验证“格式约束 </a:t>
            </a:r>
            <a:r>
              <a:rPr lang="en-US" altLang="zh-CN" b="0" dirty="0"/>
              <a:t>+ </a:t>
            </a:r>
            <a:r>
              <a:rPr lang="zh-CN" altLang="en-US" b="0" dirty="0"/>
              <a:t>押韵约束 </a:t>
            </a:r>
            <a:r>
              <a:rPr lang="en-US" altLang="zh-CN" b="0" dirty="0"/>
              <a:t>+ </a:t>
            </a:r>
            <a:r>
              <a:rPr lang="zh-CN" altLang="en-US" b="0" dirty="0"/>
              <a:t>可选平仄约束”的生成策略。</a:t>
            </a:r>
          </a:p>
          <a:p>
            <a:pPr lvl="1"/>
            <a:r>
              <a:rPr lang="zh-CN" altLang="en-US" b="0" dirty="0"/>
              <a:t>建立多维自动评估体系，对生成质量进行量化分析。</a:t>
            </a:r>
            <a:br>
              <a:rPr lang="zh-CN" altLang="en-US" b="0" dirty="0"/>
            </a:br>
            <a:endParaRPr lang="zh-CN" altLang="en-US" b="0" dirty="0"/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277A54-2F39-86D9-E4E4-6A315DDE0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86438A-652A-010E-D5A0-7096E416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FCD223-E633-C7CC-8EEB-E68C31A5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</p:spTree>
    <p:extLst>
      <p:ext uri="{BB962C8B-B14F-4D97-AF65-F5344CB8AC3E}">
        <p14:creationId xmlns:p14="http://schemas.microsoft.com/office/powerpoint/2010/main" val="421819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BC46-9831-A311-ADDC-A1C4FAB8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398EC30-A05A-2F9E-AED7-240ED138E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5990456" cy="498383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唐诗数据集：</a:t>
            </a:r>
            <a:r>
              <a:rPr lang="zh-CN" altLang="en-US" sz="2800" b="0" dirty="0"/>
              <a:t>含有</a:t>
            </a:r>
            <a:r>
              <a:rPr lang="en-US" altLang="zh-CN" sz="2800" b="0" dirty="0"/>
              <a:t>57580</a:t>
            </a:r>
            <a:r>
              <a:rPr lang="zh-CN" altLang="en-US" sz="2800" b="0" dirty="0"/>
              <a:t>首唐诗，每首诗限定在</a:t>
            </a:r>
            <a:r>
              <a:rPr lang="en-US" altLang="zh-CN" sz="2800" b="0" dirty="0"/>
              <a:t>125</a:t>
            </a:r>
            <a:r>
              <a:rPr lang="zh-CN" altLang="en-US" sz="2800" b="0" dirty="0"/>
              <a:t>词，不足</a:t>
            </a:r>
            <a:r>
              <a:rPr lang="en-US" altLang="zh-CN" sz="2800" b="0" dirty="0"/>
              <a:t>125</a:t>
            </a:r>
            <a:r>
              <a:rPr lang="zh-CN" altLang="en-US" sz="2800" b="0" dirty="0"/>
              <a:t>词的以</a:t>
            </a:r>
            <a:r>
              <a:rPr lang="en-US" altLang="zh-CN" sz="2800" b="0" dirty="0"/>
              <a:t>&lt;/s&gt;</a:t>
            </a:r>
            <a:r>
              <a:rPr lang="zh-CN" altLang="en-US" sz="2800" b="0" dirty="0"/>
              <a:t>填充，数据集以</a:t>
            </a:r>
            <a:r>
              <a:rPr lang="en-US" altLang="zh-CN" sz="2800" b="0" dirty="0" err="1"/>
              <a:t>npz</a:t>
            </a:r>
            <a:r>
              <a:rPr lang="zh-CN" altLang="en-US" sz="2800" b="0" dirty="0"/>
              <a:t>文件形式保存。</a:t>
            </a:r>
            <a:endParaRPr lang="en-US" altLang="zh-CN" sz="2800" b="0" dirty="0"/>
          </a:p>
          <a:p>
            <a:r>
              <a:rPr lang="zh-CN" altLang="en-US" sz="2800" dirty="0"/>
              <a:t>包含三个组件：</a:t>
            </a:r>
            <a:endParaRPr lang="en-US" altLang="zh-CN" sz="2800" dirty="0"/>
          </a:p>
          <a:p>
            <a:pPr lvl="1"/>
            <a:r>
              <a:rPr lang="en-US" altLang="zh-CN" sz="2400" dirty="0"/>
              <a:t>data: </a:t>
            </a:r>
            <a:r>
              <a:rPr lang="zh-CN" altLang="en-US" sz="2400" dirty="0"/>
              <a:t>诗词数据，将诗词中的字转化为其在字典中的序号表示</a:t>
            </a:r>
            <a:endParaRPr lang="en-US" altLang="zh-CN" sz="2400" dirty="0"/>
          </a:p>
          <a:p>
            <a:pPr lvl="1"/>
            <a:r>
              <a:rPr lang="en-US" altLang="zh-CN" sz="2400" dirty="0"/>
              <a:t>ix2word: </a:t>
            </a:r>
            <a:r>
              <a:rPr lang="zh-CN" altLang="en-US" sz="2400" dirty="0"/>
              <a:t>序号到字的映射</a:t>
            </a:r>
            <a:endParaRPr lang="en-US" altLang="zh-CN" sz="2400" dirty="0"/>
          </a:p>
          <a:p>
            <a:pPr lvl="1"/>
            <a:r>
              <a:rPr lang="en-US" altLang="zh-CN" sz="2400" dirty="0"/>
              <a:t>word2ix: </a:t>
            </a:r>
            <a:r>
              <a:rPr lang="zh-CN" altLang="en-US" sz="2400" dirty="0"/>
              <a:t>字到序号的映射 </a:t>
            </a:r>
            <a:endParaRPr lang="zh-CN" altLang="en-US" sz="2400" b="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E0DE22-D666-6C41-7B80-0025A5D4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DA3A0-EA19-83DF-8660-BDFEB98B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E7589DD4-41E5-321D-59D0-9045DAF4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49238"/>
            <a:ext cx="10972800" cy="628650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4CC90C-2A89-EC21-5D5F-F1B021238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51475" y="1916832"/>
            <a:ext cx="4945761" cy="24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71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20BD-99F3-B632-6234-75CAF7B4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CB41FE-B42F-E292-835E-8505DF2B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>
            <a:normAutofit/>
          </a:bodyPr>
          <a:lstStyle/>
          <a:p>
            <a:r>
              <a:rPr lang="zh-CN" altLang="en-US" b="0" dirty="0"/>
              <a:t>本实验使用字符级因果 </a:t>
            </a:r>
            <a:r>
              <a:rPr lang="en-US" altLang="zh-CN" b="0" dirty="0"/>
              <a:t>Transformer</a:t>
            </a:r>
            <a:r>
              <a:rPr lang="zh-CN" altLang="en-US" b="0" dirty="0"/>
              <a:t>，主要由以下部分组成：</a:t>
            </a:r>
          </a:p>
          <a:p>
            <a:pPr lvl="1"/>
            <a:r>
              <a:rPr lang="en-US" altLang="zh-CN" b="0" dirty="0"/>
              <a:t>Token Embedding</a:t>
            </a:r>
          </a:p>
          <a:p>
            <a:pPr lvl="1"/>
            <a:r>
              <a:rPr lang="zh-CN" altLang="en-US" b="0" dirty="0"/>
              <a:t>绝对位置 </a:t>
            </a:r>
            <a:r>
              <a:rPr lang="en-US" altLang="zh-CN" b="0" dirty="0"/>
              <a:t>Embedding</a:t>
            </a:r>
          </a:p>
          <a:p>
            <a:pPr lvl="1"/>
            <a:r>
              <a:rPr lang="zh-CN" altLang="en-US" b="0" dirty="0"/>
              <a:t>循环句位 </a:t>
            </a:r>
            <a:r>
              <a:rPr lang="en-US" altLang="zh-CN" b="0" dirty="0"/>
              <a:t>Embedding</a:t>
            </a:r>
            <a:r>
              <a:rPr lang="zh-CN" altLang="en-US" b="0" dirty="0"/>
              <a:t>（</a:t>
            </a:r>
            <a:r>
              <a:rPr lang="en-US" altLang="zh-CN" b="0" dirty="0"/>
              <a:t>`</a:t>
            </a:r>
            <a:r>
              <a:rPr lang="en-US" altLang="zh-CN" b="0" dirty="0" err="1"/>
              <a:t>pattern_cycle</a:t>
            </a:r>
            <a:r>
              <a:rPr lang="en-US" altLang="zh-CN" b="0" dirty="0"/>
              <a:t>`</a:t>
            </a:r>
            <a:r>
              <a:rPr lang="zh-CN" altLang="en-US" b="0" dirty="0"/>
              <a:t>）</a:t>
            </a:r>
          </a:p>
          <a:p>
            <a:pPr lvl="1"/>
            <a:r>
              <a:rPr lang="zh-CN" altLang="en-US" b="0" dirty="0"/>
              <a:t>多层 </a:t>
            </a:r>
            <a:r>
              <a:rPr lang="en-US" altLang="zh-CN" b="0" dirty="0"/>
              <a:t>Transformer Encoder</a:t>
            </a:r>
            <a:r>
              <a:rPr lang="zh-CN" altLang="en-US" b="0" dirty="0"/>
              <a:t>（通过因果 </a:t>
            </a:r>
            <a:r>
              <a:rPr lang="en-US" altLang="zh-CN" b="0" dirty="0"/>
              <a:t>mask </a:t>
            </a:r>
            <a:r>
              <a:rPr lang="zh-CN" altLang="en-US" b="0" dirty="0"/>
              <a:t>实现自回归）</a:t>
            </a:r>
          </a:p>
          <a:p>
            <a:pPr lvl="1"/>
            <a:r>
              <a:rPr lang="zh-CN" altLang="en-US" b="0" dirty="0"/>
              <a:t>线性输出头（与输入嵌入权重共享）</a:t>
            </a:r>
            <a:endParaRPr lang="en-US" altLang="zh-CN" b="0" dirty="0"/>
          </a:p>
          <a:p>
            <a:r>
              <a:rPr lang="zh-CN" altLang="en-US" b="0" dirty="0"/>
              <a:t>结构概览（当前配置）：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8F309E-77A2-3D30-97BA-70391DF6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A1220E-FD74-8254-83A9-6B4EAFE9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2D65FB6-B656-50CE-20DE-25E7207C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8780C6-45EA-F9A1-5E57-9E1648EA7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0" y="3861048"/>
            <a:ext cx="3606985" cy="214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9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E7C7-7FBB-3590-B07A-417F3A41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0EBF49-1414-E354-A883-3FB3B7A75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340768"/>
            <a:ext cx="8605836" cy="1133078"/>
          </a:xfrm>
        </p:spPr>
        <p:txBody>
          <a:bodyPr>
            <a:normAutofit/>
          </a:bodyPr>
          <a:lstStyle/>
          <a:p>
            <a:r>
              <a:rPr lang="zh-CN" altLang="en-US" dirty="0"/>
              <a:t>训练阶段（梯度累积 </a:t>
            </a:r>
            <a:r>
              <a:rPr lang="en-US" altLang="zh-CN" dirty="0"/>
              <a:t>+ AMP + </a:t>
            </a:r>
            <a:r>
              <a:rPr lang="zh-CN" altLang="en-US" dirty="0"/>
              <a:t>学习率调度）：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CBC3B4-893A-ABC5-2CD1-40C88282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6C1AD-1183-C123-EC5F-166AF42F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FC8A075-BB87-A1A4-F447-4EAD8A70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A0CA974-2416-5DD7-43FE-95CBCF323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2060848"/>
            <a:ext cx="7868068" cy="365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4F6F-FDB0-EF5B-23D4-79C191F2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7D4EA6-665D-9EE1-2B49-96EEB6E0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5CBCAB-7F9A-D227-AA67-C8DACD6C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6F228F0-A1F9-B048-BB32-8B71E48F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CA0332A8-101F-B926-5874-B7C49E7BE946}"/>
              </a:ext>
            </a:extLst>
          </p:cNvPr>
          <p:cNvSpPr txBox="1">
            <a:spLocks/>
          </p:cNvSpPr>
          <p:nvPr/>
        </p:nvSpPr>
        <p:spPr>
          <a:xfrm>
            <a:off x="6469832" y="1244026"/>
            <a:ext cx="5112568" cy="744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B28A7D31-B634-C117-3354-5AA9773AE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4"/>
            <a:ext cx="7646640" cy="744296"/>
          </a:xfrm>
        </p:spPr>
        <p:txBody>
          <a:bodyPr>
            <a:normAutofit/>
          </a:bodyPr>
          <a:lstStyle/>
          <a:p>
            <a:r>
              <a:rPr lang="zh-CN" altLang="en-US" dirty="0"/>
              <a:t>生成阶段（结构约束 </a:t>
            </a:r>
            <a:r>
              <a:rPr lang="en-US" altLang="zh-CN" dirty="0"/>
              <a:t>+ </a:t>
            </a:r>
            <a:r>
              <a:rPr lang="zh-CN" altLang="en-US" dirty="0"/>
              <a:t>押韵约束）：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063770-C153-295B-06D8-808F8E2FE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43669"/>
            <a:ext cx="11577308" cy="37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97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9C7B-7FE6-109D-E0A9-D2E51B71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A66F01C-E737-2C47-2D27-35976236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420887"/>
            <a:ext cx="4234032" cy="3785097"/>
          </a:xfrm>
        </p:spPr>
        <p:txBody>
          <a:bodyPr/>
          <a:lstStyle/>
          <a:p>
            <a:r>
              <a:rPr lang="zh-CN" altLang="en-US" dirty="0"/>
              <a:t>可见一开始损失较高，困惑度为无穷大，随着训练进行，损失迅速下降，困惑度也显著降低，表明模型在逐渐学会拟合训练数据。</a:t>
            </a:r>
          </a:p>
          <a:p>
            <a:pPr marL="457200" lvl="1" indent="0">
              <a:buNone/>
            </a:pPr>
            <a:endParaRPr lang="zh-CN" altLang="en-US" b="0" dirty="0"/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4EB044-B353-18F6-04D7-B1DCA1DC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EDDB0F-DB6D-44B9-DA6E-F1879064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6CFB75F-7E10-0950-BC69-D65C92DB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96C98F7-A87A-D7EF-1B8D-67B5F3B871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632" y="1222153"/>
            <a:ext cx="6501262" cy="4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91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933AE-3879-CECA-419B-5685E17F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8DAD34-AC8D-4A80-B211-46108D30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556793"/>
            <a:ext cx="10081120" cy="4649192"/>
          </a:xfrm>
        </p:spPr>
        <p:txBody>
          <a:bodyPr/>
          <a:lstStyle/>
          <a:p>
            <a:r>
              <a:rPr lang="zh-CN" altLang="en-US" b="0" dirty="0"/>
              <a:t>在当前评价指标体系下，生成质量整体较好，且格式与押韵约束得分稳定在满分水平，平仄得分则存在一定提升空间。</a:t>
            </a:r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341B3D-177F-2342-E5A9-B8573B21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126348-FEC8-2588-4D66-715E0BE2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CE853CE-53B5-9DAC-A5EF-75353FBF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95D2D97-0847-255C-3DF8-08CAF618C6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3435859"/>
            <a:ext cx="9048328" cy="245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1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2F79-5D23-6006-F739-C59AA6A6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C573BD-5977-DF48-422D-301DCC982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dirty="0"/>
              <a:t>在续写与藏头诗中，生成的内容都较为语意连贯而且正确，可见模型效果较好。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B07478-8FE9-98C5-9A8A-E604CBF4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ED527-3710-0414-21F1-EB2CCADD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8519F9D-71C0-0AD7-0F28-BBF7BD5A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2551862-AA0F-DC57-B934-3AFF49980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07" y="4187958"/>
            <a:ext cx="10742985" cy="8680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31E121B-0939-2ABD-6452-5CAF0AC7E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1" y="2705055"/>
            <a:ext cx="10488488" cy="29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6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C092-EF16-8804-9837-A2A12D1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51403B2-2EA0-F0BF-62F9-38F3C43FA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dirty="0"/>
              <a:t>在非 </a:t>
            </a:r>
            <a:r>
              <a:rPr lang="en-US" altLang="zh-CN" dirty="0"/>
              <a:t>LLM </a:t>
            </a:r>
            <a:r>
              <a:rPr lang="zh-CN" altLang="en-US" dirty="0"/>
              <a:t>微调约束下，实验成功实现了可训练的字符级 </a:t>
            </a:r>
            <a:r>
              <a:rPr lang="en-US" altLang="zh-CN" dirty="0"/>
              <a:t>Transformer </a:t>
            </a:r>
            <a:r>
              <a:rPr lang="zh-CN" altLang="en-US" dirty="0"/>
              <a:t>诗歌生成系统。</a:t>
            </a:r>
          </a:p>
          <a:p>
            <a:r>
              <a:rPr lang="zh-CN" altLang="en-US" dirty="0"/>
              <a:t>结构化约束策略有效：格式与押韵指标均达到较高稳定性（平均 </a:t>
            </a:r>
            <a:r>
              <a:rPr lang="en-US" altLang="zh-CN" dirty="0"/>
              <a:t>1.0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当前主要改进空间在平仄质量与语义连贯性，可进一步结合更精细的韵律词典、语义约束或更大规模预训练语料优化质量上限。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3EF9C9-C80C-7262-D4A7-0D89F75C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2026/5/8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35F47-2113-BE54-38AB-09E18C54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7847405-93FC-A0EB-9294-4F7D6ACA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06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798784099"/>
      </p:ext>
    </p:extLst>
  </p:cSld>
  <p:clrMapOvr>
    <a:masterClrMapping/>
  </p:clrMapOvr>
</p:sld>
</file>

<file path=ppt/theme/theme1.xml><?xml version="1.0" encoding="utf-8"?>
<a:theme xmlns:a="http://schemas.openxmlformats.org/drawingml/2006/main" name="C01-计算机系统概论4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P07-实验课课程总结</Template>
  <TotalTime>4408</TotalTime>
  <Words>456</Words>
  <Application>Microsoft Office PowerPoint</Application>
  <PresentationFormat>宽屏</PresentationFormat>
  <Paragraphs>63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Calibri</vt:lpstr>
      <vt:lpstr>Wingdings</vt:lpstr>
      <vt:lpstr>微软雅黑</vt:lpstr>
      <vt:lpstr>Courier New</vt:lpstr>
      <vt:lpstr>Arial</vt:lpstr>
      <vt:lpstr>Garamond</vt:lpstr>
      <vt:lpstr>C01-计算机系统概论4p</vt:lpstr>
      <vt:lpstr>实验3 自动写诗 </vt:lpstr>
      <vt:lpstr>01 实验要求</vt:lpstr>
      <vt:lpstr>02 实验环境</vt:lpstr>
      <vt:lpstr>03 实验原理</vt:lpstr>
      <vt:lpstr>04 核心代码</vt:lpstr>
      <vt:lpstr>04 核心代码</vt:lpstr>
      <vt:lpstr>05 实验结果</vt:lpstr>
      <vt:lpstr>05 实验结果</vt:lpstr>
      <vt:lpstr>05 实验结果</vt:lpstr>
      <vt:lpstr>06 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组成原理课程期末调查问卷</dc:title>
  <dc:creator>GZ JK</dc:creator>
  <cp:lastModifiedBy>alare a</cp:lastModifiedBy>
  <cp:revision>915</cp:revision>
  <dcterms:created xsi:type="dcterms:W3CDTF">2020-07-02T18:17:07Z</dcterms:created>
  <dcterms:modified xsi:type="dcterms:W3CDTF">2026-05-08T15:04:06Z</dcterms:modified>
</cp:coreProperties>
</file>